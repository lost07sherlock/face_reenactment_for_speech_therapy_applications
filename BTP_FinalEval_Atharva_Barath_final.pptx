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99"/>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91" autoAdjust="0"/>
    <p:restoredTop sz="95033" autoAdjust="0"/>
  </p:normalViewPr>
  <p:slideViewPr>
    <p:cSldViewPr snapToGrid="0">
      <p:cViewPr>
        <p:scale>
          <a:sx n="75" d="100"/>
          <a:sy n="75" d="100"/>
        </p:scale>
        <p:origin x="1805" y="216"/>
      </p:cViewPr>
      <p:guideLst>
        <p:guide orient="horz" pos="2160"/>
        <p:guide pos="2880"/>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68DC72-0701-4922-B9D1-CBFB540736DA}" type="datetimeFigureOut">
              <a:rPr lang="en-IN" smtClean="0"/>
              <a:t>19-05-2026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C433DB3-0243-45D5-87FD-27D2F51D2003}" type="slidenum">
              <a:rPr lang="en-IN" smtClean="0"/>
              <a:t>‹#›</a:t>
            </a:fld>
            <a:endParaRPr lang="en-IN"/>
          </a:p>
        </p:txBody>
      </p:sp>
    </p:spTree>
    <p:extLst>
      <p:ext uri="{BB962C8B-B14F-4D97-AF65-F5344CB8AC3E}">
        <p14:creationId xmlns:p14="http://schemas.microsoft.com/office/powerpoint/2010/main" val="1069364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Good</a:t>
            </a:r>
            <a:r>
              <a:rPr lang="en-IN" dirty="0"/>
              <a:t> Afternoon , everyone</a:t>
            </a:r>
            <a:r>
              <a:rPr dirty="0"/>
              <a:t>. We are Atharva and Barath , and our </a:t>
            </a:r>
            <a:r>
              <a:rPr dirty="0" err="1"/>
              <a:t>B.Tech</a:t>
            </a:r>
            <a:r>
              <a:rPr dirty="0"/>
              <a:t> Project, supervised by Dr. Vinod Pankajakshan, is on </a:t>
            </a:r>
            <a:r>
              <a:rPr lang="en-IN" dirty="0"/>
              <a:t>Face</a:t>
            </a:r>
            <a:r>
              <a:rPr dirty="0"/>
              <a:t> Reenactment for Speech Therapy. In the next ten minutes we will explain the speech-therapy problem we set out to solve, the technical journey we took, and the end-to-end system we finally built.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dirty="0"/>
              <a:t>Globally there are around one billion people who experience some form of communication or speech disorder , these include children , stroke patients. All these people require s</a:t>
            </a:r>
            <a:r>
              <a:rPr dirty="0" err="1"/>
              <a:t>peech</a:t>
            </a:r>
            <a:r>
              <a:rPr dirty="0"/>
              <a:t> therapy </a:t>
            </a:r>
            <a:r>
              <a:rPr lang="en-IN" dirty="0"/>
              <a:t>which </a:t>
            </a:r>
            <a:r>
              <a:rPr dirty="0"/>
              <a:t>depends heavily on visual feedback. Patients have to watch the therapist and somehow translate that to their own face, which is a hard mental mapping. Our idea is simple: instead of showing the therapist's face, </a:t>
            </a:r>
            <a:r>
              <a:rPr lang="en-IN" dirty="0"/>
              <a:t>what if we could </a:t>
            </a:r>
            <a:r>
              <a:rPr dirty="0"/>
              <a:t>show the patient their own face doing the exercise correctly, with their own voice</a:t>
            </a:r>
            <a:r>
              <a:rPr lang="en-IN" dirty="0"/>
              <a:t> on top , and also provide them reliable feedback for self practise.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formally</a:t>
            </a:r>
            <a:r>
              <a:rPr lang="en-IN" dirty="0"/>
              <a:t> out problem statement can be framed as this </a:t>
            </a:r>
            <a:r>
              <a:rPr dirty="0"/>
              <a:t>: </a:t>
            </a:r>
            <a:r>
              <a:rPr lang="en-IN" dirty="0"/>
              <a:t>G</a:t>
            </a:r>
            <a:r>
              <a:rPr dirty="0" err="1"/>
              <a:t>iven</a:t>
            </a:r>
            <a:r>
              <a:rPr dirty="0"/>
              <a:t> a patient photo and a therapist demo video, generate a video of the patient doing the exercise, optionally with their voice, and score how well the patient's own attempt matches the reference. The hard constraint throughout was compute — we built this to run on a regular consumer laptop, not a </a:t>
            </a:r>
            <a:r>
              <a:rPr lang="en-IN" dirty="0"/>
              <a:t>server.</a:t>
            </a:r>
            <a:br>
              <a:rPr lang="en-IN" dirty="0"/>
            </a:b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Here's the system at a glance. On the left, three inputs: patient image, therapist reference video, and optionally a voice sample. These go into a generation core combining </a:t>
            </a:r>
            <a:r>
              <a:rPr dirty="0" err="1"/>
              <a:t>LivePortrait</a:t>
            </a:r>
            <a:r>
              <a:rPr dirty="0"/>
              <a:t> for the visuals and Seed-VC for the voice</a:t>
            </a:r>
            <a:r>
              <a:rPr lang="en-IN" dirty="0"/>
              <a:t> .</a:t>
            </a:r>
            <a:r>
              <a:rPr dirty="0"/>
              <a:t>The output is a </a:t>
            </a:r>
            <a:r>
              <a:rPr dirty="0" err="1"/>
              <a:t>personali</a:t>
            </a:r>
            <a:r>
              <a:rPr lang="en-IN" dirty="0"/>
              <a:t>z</a:t>
            </a:r>
            <a:r>
              <a:rPr dirty="0"/>
              <a:t>ed demo video. The patient then records their own attempt, and our evaluation module compares the two using three components — articulation, acoustic similarity, transcript accuracy — weighted 30, 30, 40 percent. We'll come back to each</a:t>
            </a:r>
            <a:r>
              <a:rPr lang="en-IN" dirty="0"/>
              <a:t> later in our explanation.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dirty="0"/>
              <a:t>We did not outright start with the system we have currently,</a:t>
            </a:r>
            <a:r>
              <a:rPr dirty="0"/>
              <a:t> In Phase 1, we tried to make </a:t>
            </a:r>
            <a:r>
              <a:rPr dirty="0" err="1"/>
              <a:t>DiffusionAct</a:t>
            </a:r>
            <a:r>
              <a:rPr dirty="0"/>
              <a:t> — a controllable diffusion autoencoder — work for video</a:t>
            </a:r>
            <a:r>
              <a:rPr lang="en-IN" dirty="0"/>
              <a:t> , which likes most reenactment models had two problems identity leakage and flicker.</a:t>
            </a:r>
            <a:r>
              <a:rPr dirty="0"/>
              <a:t> The pipeline on the left, from our mid-eval poster, shows the two changes we made: we switched the DDIM prior from the noised source to the noised target frame to cut identity leakage, and we applied a moving average — SMA in the results column — on the semantic codes to dampen jitter. The numbers on the right show the improvement: Identity Cosine jumped from 0.84 to 0.90 and pose error dropped. So the changes worked on paper. But </a:t>
            </a:r>
            <a:r>
              <a:rPr lang="en-IN" dirty="0"/>
              <a:t>qualitatively we were not satisfied as we could still feel the jitter, so we decided to push further to find the cause by performing some experiment.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tried five </a:t>
            </a:r>
            <a:r>
              <a:rPr dirty="0" err="1"/>
              <a:t>stabilisation</a:t>
            </a:r>
            <a:r>
              <a:rPr dirty="0"/>
              <a:t> strategies, each failing in an instructive way. Optical flow training was unstable. Retrieving pose-matched frames killed continuity. Filtering the landmarks smoothed the crops but the output still flickered, so input noise isn't the culprit. Smoothing the alignment rotation caused eye distortions. The killer experiment: we fed the model the same image 25 times a second, and the output still jittered. That's when we knew the jitter is in the diffusion sampler itself, not anything we can pre-process away. Time to switch model family</a:t>
            </a:r>
            <a:r>
              <a:rPr lang="en-IN" dirty="0"/>
              <a:t> .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dirty="0"/>
              <a:t>So we ended up choosing </a:t>
            </a:r>
            <a:r>
              <a:rPr lang="en-IN" dirty="0" err="1"/>
              <a:t>LivePortriat</a:t>
            </a:r>
            <a:r>
              <a:rPr lang="en-IN" dirty="0"/>
              <a:t> , </a:t>
            </a:r>
            <a:r>
              <a:rPr dirty="0"/>
              <a:t>Head-to-head: </a:t>
            </a:r>
            <a:r>
              <a:rPr dirty="0" err="1"/>
              <a:t>DiffusionAct</a:t>
            </a:r>
            <a:r>
              <a:rPr dirty="0"/>
              <a:t> gives beautiful single frames but the stochastic sampler injects flicker, it's heavy, and inference is slow</a:t>
            </a:r>
            <a:r>
              <a:rPr lang="en-IN" dirty="0"/>
              <a:t> and outputs are somewhat smoothened images</a:t>
            </a:r>
            <a:r>
              <a:rPr dirty="0"/>
              <a:t>. </a:t>
            </a:r>
            <a:r>
              <a:rPr dirty="0" err="1"/>
              <a:t>LivePortrait</a:t>
            </a:r>
            <a:r>
              <a:rPr dirty="0"/>
              <a:t> is a GAN-based implicit-</a:t>
            </a:r>
            <a:r>
              <a:rPr dirty="0" err="1"/>
              <a:t>keypoint</a:t>
            </a:r>
            <a:r>
              <a:rPr dirty="0"/>
              <a:t> model — deterministic, trained on a much larger dataset, with built-in stitching and lip retargeting, and light enough to run on a normal laptop. For a clinical prototype, those properties</a:t>
            </a:r>
            <a:r>
              <a:rPr lang="en-IN" dirty="0"/>
              <a:t> are what we were looking for. So this is a side by side comparison of diffusion and live portrait for cross reenactment. The video is much more stable in </a:t>
            </a:r>
            <a:r>
              <a:rPr lang="en-IN" dirty="0" err="1"/>
              <a:t>liveportrait</a:t>
            </a:r>
            <a:r>
              <a:rPr lang="en-IN" dirty="0"/>
              <a:t>.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dirty="0"/>
              <a:t>So we will see why it is much more stable through its architecture</a:t>
            </a:r>
            <a:r>
              <a:rPr dirty="0"/>
              <a:t>. The appearance path takes the source image and an Appearance Extractor F produces a 3-D feature volume F-s. The motion path takes source and driving frames; a Motion Extractor M produces </a:t>
            </a:r>
            <a:r>
              <a:rPr lang="en-IN" dirty="0"/>
              <a:t>canonical </a:t>
            </a:r>
            <a:r>
              <a:rPr dirty="0" err="1"/>
              <a:t>keypoints</a:t>
            </a:r>
            <a:r>
              <a:rPr dirty="0"/>
              <a:t>, head rotation, translation, scale, and an expression deformation delta.</a:t>
            </a:r>
            <a:r>
              <a:rPr lang="en-IN" dirty="0"/>
              <a:t> We combine these to get resulting implicit </a:t>
            </a:r>
            <a:r>
              <a:rPr lang="en-IN" dirty="0" err="1"/>
              <a:t>keypoint</a:t>
            </a:r>
            <a:r>
              <a:rPr lang="en-IN" dirty="0"/>
              <a:t> embedding.</a:t>
            </a:r>
            <a:r>
              <a:rPr dirty="0"/>
              <a:t> Both outputs converge at the Warping module W, which warps F-s by the motion. The decoder G turns that into a face frame.</a:t>
            </a:r>
            <a:r>
              <a:rPr lang="en-IN" dirty="0"/>
              <a:t> The decoder G is a </a:t>
            </a:r>
            <a:r>
              <a:rPr lang="en-IN" dirty="0" err="1"/>
              <a:t>gan</a:t>
            </a:r>
            <a:r>
              <a:rPr lang="en-IN" dirty="0"/>
              <a:t> which is trained through a cascaded loss.</a:t>
            </a:r>
            <a:r>
              <a:rPr dirty="0"/>
              <a:t> </a:t>
            </a:r>
            <a:r>
              <a:rPr lang="en-IN" dirty="0"/>
              <a:t>The reason why live portrait is better than diffract is the embedding have a temporal context. </a:t>
            </a:r>
            <a:r>
              <a:rPr dirty="0"/>
              <a:t>*(brief pause)* And critically, this is where the stitching block comes in —. That gives us the final frame. The model is trained in two stages on around 69 million frames, inference is deterministic, and it runs on consumer hardware. We use it as-is — no fine-tuning.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Seed-VC V2 is the voice transformation model. There are three learnt components. A content encoder — typically based on self-supervised speech features like </a:t>
            </a:r>
            <a:r>
              <a:rPr dirty="0" err="1"/>
              <a:t>HuBERT</a:t>
            </a:r>
            <a:r>
              <a:rPr dirty="0"/>
              <a:t> — pulls out speaker-invariant linguistic content from the source audio: the words and rhythm, with the timbre stripped out. A speaker encoder reads the target voice reference, which can be the patient's own sample or one of our six presets, and produces a fixed embedding capturing timbre. Both feed a diffusion-transformer decoder that generates a mel-spectrogram, conditioned on both. Finally a vocoder turns that mel-spectrogram into a waveform. We use 30 diffusion steps and a similarity CFG of 0.7, which gives stable timbre transfer at a few seconds per clip on our laptop.</a:t>
            </a:r>
            <a:r>
              <a:rPr lang="en-IN" dirty="0"/>
              <a:t> Balancing both the naturalness of the audio and conditioning.</a:t>
            </a:r>
            <a:r>
              <a:rPr dirty="0"/>
              <a:t> The transformed audio is then merged back onto the generated </a:t>
            </a:r>
            <a:r>
              <a:rPr dirty="0" err="1"/>
              <a:t>LivePortrait</a:t>
            </a:r>
            <a:r>
              <a:rPr dirty="0"/>
              <a:t> video, with sync.</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DTW deserves its own slide because it appears twice in our evaluation. The setup is straightforward: we have two sequences of possibly different length, a and b, and a local cost function d. The classical DTW recurrence — shown on the slide — fills in a cost matrix D, where D(</a:t>
            </a:r>
            <a:r>
              <a:rPr dirty="0" err="1"/>
              <a:t>i,j</a:t>
            </a:r>
            <a:r>
              <a:rPr dirty="0"/>
              <a:t>) is the minimum cumulative cost of aligning the first </a:t>
            </a:r>
            <a:r>
              <a:rPr dirty="0" err="1"/>
              <a:t>i</a:t>
            </a:r>
            <a:r>
              <a:rPr dirty="0"/>
              <a:t> elements of a with the first j elements of b. Each cell can be reached from three </a:t>
            </a:r>
            <a:r>
              <a:rPr dirty="0" err="1"/>
              <a:t>neighbours</a:t>
            </a:r>
            <a:r>
              <a:rPr dirty="0"/>
              <a:t>: the one below, the one to the left, and the diagonal below-left. We take the minimum of those three and add the local cost at (</a:t>
            </a:r>
            <a:r>
              <a:rPr dirty="0" err="1"/>
              <a:t>i,j</a:t>
            </a:r>
            <a:r>
              <a:rPr dirty="0"/>
              <a:t>). We score on the average per-step cost — total cost divided by path length — because long sequences would otherwise score worse simply for being longer. The local cost function we use is cosine distance: one minus the inner product divided by norms, which lives in zero to two. Cosine matters because it compares direction, not magnitude — so the score is invariant to face size, camera distance, and audio volume. On the right, a 6-by-6 grid: x-axis is the patient sequence, y-axis is the reference, the teal cells form the optimal alignment path. </a:t>
            </a:r>
            <a:r>
              <a:rPr lang="en-IN" dirty="0"/>
              <a:t> In practise we use </a:t>
            </a:r>
            <a:r>
              <a:rPr lang="en-IN" dirty="0" err="1"/>
              <a:t>fastdtw</a:t>
            </a:r>
            <a:r>
              <a:rPr lang="en-IN" dirty="0"/>
              <a:t> an approximate optimized version of DTW.</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articulation score is the heart of evaluation. We pull </a:t>
            </a:r>
            <a:r>
              <a:rPr dirty="0" err="1"/>
              <a:t>LivePortrait’s</a:t>
            </a:r>
            <a:r>
              <a:rPr dirty="0"/>
              <a:t> </a:t>
            </a:r>
            <a:r>
              <a:rPr lang="en-IN" dirty="0" err="1"/>
              <a:t>keypoint</a:t>
            </a:r>
            <a:r>
              <a:rPr lang="en-IN" dirty="0"/>
              <a:t> </a:t>
            </a:r>
            <a:r>
              <a:rPr dirty="0"/>
              <a:t>coefficients — specifically the six indices that control lip and mouth deformation. We zero-</a:t>
            </a:r>
            <a:r>
              <a:rPr dirty="0" err="1"/>
              <a:t>centre</a:t>
            </a:r>
            <a:r>
              <a:rPr dirty="0"/>
              <a:t> and </a:t>
            </a:r>
            <a:r>
              <a:rPr dirty="0" err="1"/>
              <a:t>normalise</a:t>
            </a:r>
            <a:r>
              <a:rPr dirty="0"/>
              <a:t> per video so a resting face doesn't bias the comparison, then run </a:t>
            </a:r>
            <a:r>
              <a:rPr dirty="0" err="1"/>
              <a:t>FastDTW</a:t>
            </a:r>
            <a:r>
              <a:rPr dirty="0"/>
              <a:t> with cosine distance — the same DTW configuration from the previous slide. The cosine distance maps cleanly to a 0–100 score. And if fewer than five frames pass face detection, we refuse to score.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Articulation alone isn't enough — a patient could move their lips well while saying nothing intelligible. So we added two complementary dialogue-accuracy measures, both at the therapist's suggestion. Acoustic similarity uses </a:t>
            </a:r>
            <a:r>
              <a:rPr dirty="0" err="1"/>
              <a:t>ContentVec</a:t>
            </a:r>
            <a:r>
              <a:rPr dirty="0"/>
              <a:t> embeddings and </a:t>
            </a:r>
            <a:r>
              <a:rPr dirty="0" err="1"/>
              <a:t>FastDTW</a:t>
            </a:r>
            <a:r>
              <a:rPr dirty="0"/>
              <a:t>. </a:t>
            </a:r>
            <a:r>
              <a:rPr lang="en-IN" dirty="0"/>
              <a:t>We use </a:t>
            </a:r>
            <a:r>
              <a:rPr lang="en-IN" dirty="0" err="1"/>
              <a:t>silero-vad</a:t>
            </a:r>
            <a:r>
              <a:rPr lang="en-IN" dirty="0"/>
              <a:t> to remove the silent frames. The silent frames add noise and considerably reduces the score. To stress test the scores we tested them on a few toy audio/video pairs. For the original video with itself it gives 100 score in both. Even if the original video is slowed down or has a pause the score is still high more than 90. If the original video is cut by half the score drops by 20-30 points. Now for an upper bound we find the score between the original video and a synthetic self reenacted video this come out to be 95. to get a lower bound even if the video is completely frozen no lip movements, the score is around 50 percent. For acoustic score we have a guardrail. </a:t>
            </a:r>
            <a:r>
              <a:rPr dirty="0"/>
              <a:t>Transcript accuracy runs Whisper </a:t>
            </a:r>
            <a:r>
              <a:rPr lang="en-IN" dirty="0"/>
              <a:t>(audio to text) </a:t>
            </a:r>
            <a:r>
              <a:rPr dirty="0"/>
              <a:t>and computes Word Error Rate.</a:t>
            </a:r>
            <a:r>
              <a:rPr lang="en-IN" dirty="0"/>
              <a:t>The word error rate is number of one word substitutions, deletion or insertions to change one sentence into another.</a:t>
            </a:r>
            <a:r>
              <a:rPr dirty="0"/>
              <a:t> We weight them 30/30/40, with a key catch: if the average dialogue score is below 40, we halve the articulation contribution. You shouldn't be rewarded for nice lip-shapes if you said the wrong thing.</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Because this might one day be used clinically, we put hard guardrails everywhere. Six concrete checks: duration bounds, frame count, motion so the system rejects a still photo, audio RMS so it rejects silent recordings, non-empty Whisper output, and the dialogue penalty . If a module fails, the system gracefully reweights the others instead of crashing. We never present a misleading number.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We'd like to play the demo briefly — it shows the five-step workflow end to end: upload patient image, upload therapist video, pick a voice option, generate, then record a practice attempt and see the scores. On the right is our validation step. Dr. X from IIT Roorkee's institute hospital reviewed the system. Her feedback was that it has real clinical value and would be encouraging for patients. She recommended we go beyond pure articulation and also score the spoken content — that is exactly why our evaluation has both an acoustic and a transcript component. She also noted tongue movement as a natural next step, which today is blocked by dataset availability.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a:t>
            </a:r>
            <a:r>
              <a:rPr lang="en-IN" dirty="0"/>
              <a:t>T</a:t>
            </a:r>
            <a:r>
              <a:rPr dirty="0"/>
              <a:t>o close the technical story: our contributions are the end-to-end working prototype, the multi-environment integration, the custom three-component metric with its penalty rule, the six guardrails, the diffusion failure analysis, and the clinician-validated design. Honest limitations: English only, no inside-mouth signal, dependent on clean audio, research prototype not a clinical product, requires roughly frontal faces. Future work is tongue analysis once datasets exist, longitudinal tracking, multi-language support, on-device deployment, and a small clinical pilot.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These are the key references for the methods we used in the project. The full bibliography is in our report. Thank you — we are happy to take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0" y="0"/>
            <a:ext cx="9152529" cy="736270"/>
          </a:xfrm>
          <a:prstGeom prst="rect">
            <a:avLst/>
          </a:prstGeom>
          <a:gradFill>
            <a:gsLst>
              <a:gs pos="1000">
                <a:srgbClr val="166018"/>
              </a:gs>
              <a:gs pos="52000">
                <a:srgbClr val="00B0F0"/>
              </a:gs>
              <a:gs pos="100000">
                <a:schemeClr val="tx2">
                  <a:lumMod val="75000"/>
                </a:schemeClr>
              </a:gs>
              <a:gs pos="100000">
                <a:srgbClr val="4D0808"/>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prstClr val="white"/>
                </a:solidFill>
                <a:latin typeface="Franklin Gothic Demi" pitchFamily="34" charset="0"/>
              </a:rPr>
              <a:t>INDIAN INSTITUTE OF TECHNOLOGY ROORKEE</a:t>
            </a: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77895" y="-1281"/>
            <a:ext cx="755828" cy="732103"/>
          </a:xfrm>
          <a:prstGeom prst="rect">
            <a:avLst/>
          </a:prstGeom>
        </p:spPr>
      </p:pic>
      <p:pic>
        <p:nvPicPr>
          <p:cNvPr id="1027"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5006150"/>
            <a:ext cx="9133727" cy="185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77814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8164285" y="-1480"/>
            <a:ext cx="979715" cy="961360"/>
          </a:xfrm>
          <a:prstGeom prst="rect">
            <a:avLst/>
          </a:prstGeom>
        </p:spPr>
      </p:pic>
      <p:cxnSp>
        <p:nvCxnSpPr>
          <p:cNvPr id="8" name="Straight Connector 7"/>
          <p:cNvCxnSpPr/>
          <p:nvPr userDrawn="1"/>
        </p:nvCxnSpPr>
        <p:spPr>
          <a:xfrm>
            <a:off x="0" y="990600"/>
            <a:ext cx="9144000" cy="0"/>
          </a:xfrm>
          <a:prstGeom prst="line">
            <a:avLst/>
          </a:prstGeom>
          <a:ln w="508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0" y="6756400"/>
            <a:ext cx="9144000" cy="0"/>
          </a:xfrm>
          <a:prstGeom prst="line">
            <a:avLst/>
          </a:prstGeom>
          <a:ln w="2222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64197" y="6447291"/>
            <a:ext cx="16668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p:cNvPicPr>
            <a:picLocks noChangeAspect="1"/>
          </p:cNvPicPr>
          <p:nvPr userDrawn="1"/>
        </p:nvPicPr>
        <p:blipFill>
          <a:blip r:embed="rId4">
            <a:lum bright="3000"/>
          </a:blip>
          <a:stretch>
            <a:fillRect/>
          </a:stretch>
        </p:blipFill>
        <p:spPr>
          <a:xfrm>
            <a:off x="1873072" y="2118212"/>
            <a:ext cx="5321656" cy="3510576"/>
          </a:xfrm>
          <a:prstGeom prst="rect">
            <a:avLst/>
          </a:prstGeom>
        </p:spPr>
      </p:pic>
      <p:sp>
        <p:nvSpPr>
          <p:cNvPr id="17" name="Slide Number Placeholder 5"/>
          <p:cNvSpPr txBox="1">
            <a:spLocks/>
          </p:cNvSpPr>
          <p:nvPr userDrawn="1"/>
        </p:nvSpPr>
        <p:spPr>
          <a:xfrm>
            <a:off x="8382001" y="6607628"/>
            <a:ext cx="762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mtClean="0"/>
              <a:pPr algn="r">
                <a:defRPr/>
              </a:pPr>
              <a:t>‹#›</a:t>
            </a:fld>
            <a:endParaRPr lang="en-US" altLang="en-US" dirty="0"/>
          </a:p>
        </p:txBody>
      </p:sp>
      <p:sp>
        <p:nvSpPr>
          <p:cNvPr id="11" name="Title 1"/>
          <p:cNvSpPr>
            <a:spLocks noGrp="1"/>
          </p:cNvSpPr>
          <p:nvPr>
            <p:ph type="title"/>
          </p:nvPr>
        </p:nvSpPr>
        <p:spPr>
          <a:xfrm>
            <a:off x="180654" y="202990"/>
            <a:ext cx="7042080" cy="554587"/>
          </a:xfrm>
        </p:spPr>
        <p:txBody>
          <a:bodyPr/>
          <a:lstStyle>
            <a:lvl1pPr algn="l">
              <a:defRPr sz="3200" b="1"/>
            </a:lvl1pPr>
          </a:lstStyle>
          <a:p>
            <a:r>
              <a:rPr lang="en-US" dirty="0"/>
              <a:t>Click to edit Master title style</a:t>
            </a:r>
            <a:endParaRPr lang="en-IN" dirty="0"/>
          </a:p>
        </p:txBody>
      </p:sp>
      <p:sp>
        <p:nvSpPr>
          <p:cNvPr id="12" name="Content Placeholder 3"/>
          <p:cNvSpPr>
            <a:spLocks noGrp="1"/>
          </p:cNvSpPr>
          <p:nvPr>
            <p:ph sz="half" idx="2"/>
          </p:nvPr>
        </p:nvSpPr>
        <p:spPr>
          <a:xfrm>
            <a:off x="180653" y="1173984"/>
            <a:ext cx="8768137" cy="5223272"/>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218656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ison Slide">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a:lum bright="3000"/>
          </a:blip>
          <a:stretch>
            <a:fillRect/>
          </a:stretch>
        </p:blipFill>
        <p:spPr>
          <a:xfrm>
            <a:off x="1873072" y="2118212"/>
            <a:ext cx="5321656" cy="3510576"/>
          </a:xfrm>
          <a:prstGeom prst="rect">
            <a:avLst/>
          </a:prstGeom>
        </p:spPr>
      </p:pic>
      <p:sp>
        <p:nvSpPr>
          <p:cNvPr id="2" name="Title 1"/>
          <p:cNvSpPr>
            <a:spLocks noGrp="1"/>
          </p:cNvSpPr>
          <p:nvPr>
            <p:ph type="title"/>
          </p:nvPr>
        </p:nvSpPr>
        <p:spPr>
          <a:xfrm>
            <a:off x="180654" y="202990"/>
            <a:ext cx="7042080" cy="554587"/>
          </a:xfrm>
        </p:spPr>
        <p:txBody>
          <a:bodyPr/>
          <a:lstStyle>
            <a:lvl1pPr algn="l">
              <a:defRPr sz="3200" b="1"/>
            </a:lvl1pPr>
          </a:lstStyle>
          <a:p>
            <a:r>
              <a:rPr lang="en-US" dirty="0"/>
              <a:t>Click to edit Master title style</a:t>
            </a:r>
            <a:endParaRPr lang="en-IN" dirty="0"/>
          </a:p>
        </p:txBody>
      </p:sp>
      <p:sp>
        <p:nvSpPr>
          <p:cNvPr id="3" name="Text Placeholder 2"/>
          <p:cNvSpPr>
            <a:spLocks noGrp="1"/>
          </p:cNvSpPr>
          <p:nvPr>
            <p:ph type="body" idx="1"/>
          </p:nvPr>
        </p:nvSpPr>
        <p:spPr>
          <a:xfrm>
            <a:off x="180654" y="1132413"/>
            <a:ext cx="4288604" cy="48063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80654" y="1613043"/>
            <a:ext cx="4288604" cy="478421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Text Placeholder 4"/>
          <p:cNvSpPr>
            <a:spLocks noGrp="1"/>
          </p:cNvSpPr>
          <p:nvPr>
            <p:ph type="body" sz="quarter" idx="3"/>
          </p:nvPr>
        </p:nvSpPr>
        <p:spPr>
          <a:xfrm>
            <a:off x="4645025" y="1125166"/>
            <a:ext cx="4242121" cy="48787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613043"/>
            <a:ext cx="4242121" cy="478421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10" name="Picture 9"/>
          <p:cNvPicPr>
            <a:picLocks noChangeAspect="1"/>
          </p:cNvPicPr>
          <p:nvPr userDrawn="1"/>
        </p:nvPicPr>
        <p:blipFill>
          <a:blip r:embed="rId3"/>
          <a:stretch>
            <a:fillRect/>
          </a:stretch>
        </p:blipFill>
        <p:spPr>
          <a:xfrm>
            <a:off x="8164285" y="-1480"/>
            <a:ext cx="979715" cy="961360"/>
          </a:xfrm>
          <a:prstGeom prst="rect">
            <a:avLst/>
          </a:prstGeom>
        </p:spPr>
      </p:pic>
      <p:cxnSp>
        <p:nvCxnSpPr>
          <p:cNvPr id="11" name="Straight Connector 10"/>
          <p:cNvCxnSpPr/>
          <p:nvPr userDrawn="1"/>
        </p:nvCxnSpPr>
        <p:spPr>
          <a:xfrm>
            <a:off x="0" y="990600"/>
            <a:ext cx="9144000" cy="0"/>
          </a:xfrm>
          <a:prstGeom prst="line">
            <a:avLst/>
          </a:prstGeom>
          <a:ln w="508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0" y="6756400"/>
            <a:ext cx="9144000" cy="0"/>
          </a:xfrm>
          <a:prstGeom prst="line">
            <a:avLst/>
          </a:prstGeom>
          <a:ln w="2222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14"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464197" y="6447291"/>
            <a:ext cx="16668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Slide Number Placeholder 5"/>
          <p:cNvSpPr txBox="1">
            <a:spLocks/>
          </p:cNvSpPr>
          <p:nvPr userDrawn="1"/>
        </p:nvSpPr>
        <p:spPr>
          <a:xfrm>
            <a:off x="8382001" y="6607628"/>
            <a:ext cx="762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mtClean="0"/>
              <a:pPr algn="r">
                <a:defRPr/>
              </a:pPr>
              <a:t>‹#›</a:t>
            </a:fld>
            <a:endParaRPr lang="en-US" altLang="en-US" dirty="0"/>
          </a:p>
        </p:txBody>
      </p:sp>
    </p:spTree>
    <p:extLst>
      <p:ext uri="{BB962C8B-B14F-4D97-AF65-F5344CB8AC3E}">
        <p14:creationId xmlns:p14="http://schemas.microsoft.com/office/powerpoint/2010/main" val="2618922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lum bright="3000"/>
          </a:blip>
          <a:stretch>
            <a:fillRect/>
          </a:stretch>
        </p:blipFill>
        <p:spPr>
          <a:xfrm>
            <a:off x="1873072" y="2118212"/>
            <a:ext cx="5321656" cy="3510576"/>
          </a:xfrm>
          <a:prstGeom prst="rect">
            <a:avLst/>
          </a:prstGeom>
        </p:spPr>
      </p:pic>
      <p:pic>
        <p:nvPicPr>
          <p:cNvPr id="6" name="Picture 5"/>
          <p:cNvPicPr>
            <a:picLocks noChangeAspect="1"/>
          </p:cNvPicPr>
          <p:nvPr userDrawn="1"/>
        </p:nvPicPr>
        <p:blipFill>
          <a:blip r:embed="rId3"/>
          <a:stretch>
            <a:fillRect/>
          </a:stretch>
        </p:blipFill>
        <p:spPr>
          <a:xfrm>
            <a:off x="8164285" y="-1480"/>
            <a:ext cx="979715" cy="961360"/>
          </a:xfrm>
          <a:prstGeom prst="rect">
            <a:avLst/>
          </a:prstGeom>
        </p:spPr>
      </p:pic>
      <p:cxnSp>
        <p:nvCxnSpPr>
          <p:cNvPr id="7" name="Straight Connector 6"/>
          <p:cNvCxnSpPr/>
          <p:nvPr userDrawn="1"/>
        </p:nvCxnSpPr>
        <p:spPr>
          <a:xfrm>
            <a:off x="0" y="990600"/>
            <a:ext cx="9144000" cy="0"/>
          </a:xfrm>
          <a:prstGeom prst="line">
            <a:avLst/>
          </a:prstGeom>
          <a:ln w="508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0" y="6756400"/>
            <a:ext cx="9144000" cy="0"/>
          </a:xfrm>
          <a:prstGeom prst="line">
            <a:avLst/>
          </a:prstGeom>
          <a:ln w="2222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9"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464197" y="6447291"/>
            <a:ext cx="16668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lide Number Placeholder 5"/>
          <p:cNvSpPr txBox="1">
            <a:spLocks/>
          </p:cNvSpPr>
          <p:nvPr userDrawn="1"/>
        </p:nvSpPr>
        <p:spPr>
          <a:xfrm>
            <a:off x="8382001" y="6607628"/>
            <a:ext cx="762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mtClean="0"/>
              <a:pPr algn="r">
                <a:defRPr/>
              </a:pPr>
              <a:t>‹#›</a:t>
            </a:fld>
            <a:endParaRPr lang="en-US" altLang="en-US" dirty="0"/>
          </a:p>
        </p:txBody>
      </p:sp>
    </p:spTree>
    <p:extLst>
      <p:ext uri="{BB962C8B-B14F-4D97-AF65-F5344CB8AC3E}">
        <p14:creationId xmlns:p14="http://schemas.microsoft.com/office/powerpoint/2010/main" val="77751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17" name="Slide Number Placeholder 5"/>
          <p:cNvSpPr txBox="1">
            <a:spLocks/>
          </p:cNvSpPr>
          <p:nvPr userDrawn="1"/>
        </p:nvSpPr>
        <p:spPr>
          <a:xfrm>
            <a:off x="8382001" y="6607628"/>
            <a:ext cx="762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mtClean="0"/>
              <a:pPr algn="r">
                <a:defRPr/>
              </a:pPr>
              <a:t>‹#›</a:t>
            </a:fld>
            <a:endParaRPr lang="en-US" altLang="en-US" dirty="0"/>
          </a:p>
        </p:txBody>
      </p:sp>
      <p:sp>
        <p:nvSpPr>
          <p:cNvPr id="11" name="Title 1"/>
          <p:cNvSpPr>
            <a:spLocks noGrp="1"/>
          </p:cNvSpPr>
          <p:nvPr>
            <p:ph type="title" hasCustomPrompt="1"/>
          </p:nvPr>
        </p:nvSpPr>
        <p:spPr>
          <a:xfrm>
            <a:off x="3363913" y="2971801"/>
            <a:ext cx="2452687" cy="711200"/>
          </a:xfrm>
        </p:spPr>
        <p:txBody>
          <a:bodyPr anchor="t"/>
          <a:lstStyle>
            <a:lvl1pPr algn="ctr">
              <a:defRPr sz="3600" b="1" cap="none"/>
            </a:lvl1pPr>
          </a:lstStyle>
          <a:p>
            <a:r>
              <a:rPr lang="en-US" dirty="0"/>
              <a:t>Thanks…</a:t>
            </a:r>
            <a:endParaRPr lang="en-IN" dirty="0"/>
          </a:p>
        </p:txBody>
      </p:sp>
      <p:cxnSp>
        <p:nvCxnSpPr>
          <p:cNvPr id="12" name="Straight Connector 11"/>
          <p:cNvCxnSpPr/>
          <p:nvPr userDrawn="1"/>
        </p:nvCxnSpPr>
        <p:spPr>
          <a:xfrm>
            <a:off x="3595524" y="3619535"/>
            <a:ext cx="2009553" cy="0"/>
          </a:xfrm>
          <a:prstGeom prst="line">
            <a:avLst/>
          </a:prstGeom>
          <a:ln w="508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90766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fld id="{247F8E96-40AA-459E-91AA-55A5F97CAAA0}" type="datetime1">
              <a:rPr lang="en-US" smtClean="0">
                <a:solidFill>
                  <a:prstClr val="black">
                    <a:tint val="75000"/>
                  </a:prstClr>
                </a:solidFill>
              </a:rPr>
              <a:t>5/19/2026</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D4CB9294-F9FF-4346-BE48-1C04129C722B}" type="slidenum">
              <a:rPr lang="en-US" altLang="en-US">
                <a:solidFill>
                  <a:prstClr val="black">
                    <a:tint val="75000"/>
                  </a:prstClr>
                </a:solidFill>
              </a:rPr>
              <a:pPr>
                <a:defRPr/>
              </a:pPr>
              <a:t>‹#›</a:t>
            </a:fld>
            <a:endParaRPr lang="en-US" altLang="en-US">
              <a:solidFill>
                <a:prstClr val="black">
                  <a:tint val="75000"/>
                </a:prstClr>
              </a:solidFill>
            </a:endParaRPr>
          </a:p>
        </p:txBody>
      </p:sp>
    </p:spTree>
    <p:extLst>
      <p:ext uri="{BB962C8B-B14F-4D97-AF65-F5344CB8AC3E}">
        <p14:creationId xmlns:p14="http://schemas.microsoft.com/office/powerpoint/2010/main" val="198616290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701" r:id="rId3"/>
    <p:sldLayoutId id="2147483703" r:id="rId4"/>
    <p:sldLayoutId id="2147483708" r:id="rId5"/>
  </p:sldLayoutIdLst>
  <p:hf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8.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7.xml"/><Relationship Id="rId5" Type="http://schemas.openxmlformats.org/officeDocument/2006/relationships/slideLayout" Target="../slideLayouts/slideLayout3.xml"/><Relationship Id="rId4" Type="http://schemas.openxmlformats.org/officeDocument/2006/relationships/video" Target="../media/media2.mp4"/></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716976"/>
            <a:ext cx="9409471" cy="529376"/>
          </a:xfrm>
          <a:prstGeom prst="rect">
            <a:avLst/>
          </a:prstGeom>
          <a:noFill/>
        </p:spPr>
        <p:txBody>
          <a:bodyPr wrap="square" lIns="45720" tIns="18288" rIns="45720" bIns="18288" anchor="t">
            <a:spAutoFit/>
          </a:bodyPr>
          <a:lstStyle/>
          <a:p>
            <a:pPr algn="ctr"/>
            <a:r>
              <a:rPr lang="en-IN" sz="3200" b="1" dirty="0">
                <a:solidFill>
                  <a:srgbClr val="0F3F7A"/>
                </a:solidFill>
                <a:latin typeface="Calibri"/>
              </a:rPr>
              <a:t>Face</a:t>
            </a:r>
            <a:r>
              <a:rPr sz="3200" b="1" dirty="0">
                <a:solidFill>
                  <a:srgbClr val="0F3F7A"/>
                </a:solidFill>
                <a:latin typeface="Calibri"/>
              </a:rPr>
              <a:t> Reenactment for Speech Therapy</a:t>
            </a:r>
            <a:r>
              <a:rPr lang="en-IN" sz="3200" b="1" dirty="0">
                <a:solidFill>
                  <a:srgbClr val="0F3F7A"/>
                </a:solidFill>
                <a:latin typeface="Calibri"/>
              </a:rPr>
              <a:t> Applications</a:t>
            </a:r>
            <a:endParaRPr sz="3200" b="1" dirty="0">
              <a:solidFill>
                <a:srgbClr val="0F3F7A"/>
              </a:solidFill>
              <a:latin typeface="Calibri"/>
            </a:endParaRPr>
          </a:p>
        </p:txBody>
      </p:sp>
      <p:sp>
        <p:nvSpPr>
          <p:cNvPr id="3" name="TextBox 2"/>
          <p:cNvSpPr txBox="1"/>
          <p:nvPr/>
        </p:nvSpPr>
        <p:spPr>
          <a:xfrm>
            <a:off x="548640" y="2533900"/>
            <a:ext cx="8046720" cy="313932"/>
          </a:xfrm>
          <a:prstGeom prst="rect">
            <a:avLst/>
          </a:prstGeom>
          <a:noFill/>
        </p:spPr>
        <p:txBody>
          <a:bodyPr wrap="square" lIns="45720" tIns="18288" rIns="45720" bIns="18288" anchor="t">
            <a:spAutoFit/>
          </a:bodyPr>
          <a:lstStyle/>
          <a:p>
            <a:pPr algn="ctr"/>
            <a:r>
              <a:rPr sz="1800" b="0" dirty="0">
                <a:solidFill>
                  <a:srgbClr val="6B6B6B"/>
                </a:solidFill>
                <a:latin typeface="Calibri"/>
              </a:rPr>
              <a:t>An End-to-End Prototype</a:t>
            </a:r>
          </a:p>
        </p:txBody>
      </p:sp>
      <p:sp>
        <p:nvSpPr>
          <p:cNvPr id="4" name="TextBox 3"/>
          <p:cNvSpPr txBox="1"/>
          <p:nvPr/>
        </p:nvSpPr>
        <p:spPr>
          <a:xfrm>
            <a:off x="548640" y="3246120"/>
            <a:ext cx="8046720" cy="313932"/>
          </a:xfrm>
          <a:prstGeom prst="rect">
            <a:avLst/>
          </a:prstGeom>
          <a:noFill/>
        </p:spPr>
        <p:txBody>
          <a:bodyPr wrap="square" lIns="45720" tIns="18288" rIns="45720" bIns="18288" anchor="t">
            <a:spAutoFit/>
          </a:bodyPr>
          <a:lstStyle/>
          <a:p>
            <a:pPr algn="ctr"/>
            <a:r>
              <a:rPr sz="1800" b="1" dirty="0">
                <a:solidFill>
                  <a:srgbClr val="333333"/>
                </a:solidFill>
                <a:latin typeface="Calibri"/>
              </a:rPr>
              <a:t>Atharva Sonare(22116022)   ·   Barath Chandran</a:t>
            </a:r>
            <a:r>
              <a:rPr lang="en-IN" sz="1800" b="1" dirty="0">
                <a:solidFill>
                  <a:srgbClr val="333333"/>
                </a:solidFill>
                <a:latin typeface="Calibri"/>
              </a:rPr>
              <a:t> C.</a:t>
            </a:r>
            <a:r>
              <a:rPr sz="1800" b="1" dirty="0">
                <a:solidFill>
                  <a:srgbClr val="333333"/>
                </a:solidFill>
                <a:latin typeface="Calibri"/>
              </a:rPr>
              <a:t>(22116026)</a:t>
            </a:r>
          </a:p>
        </p:txBody>
      </p:sp>
      <p:sp>
        <p:nvSpPr>
          <p:cNvPr id="5" name="TextBox 4"/>
          <p:cNvSpPr txBox="1"/>
          <p:nvPr/>
        </p:nvSpPr>
        <p:spPr>
          <a:xfrm>
            <a:off x="548640" y="3657600"/>
            <a:ext cx="8046720" cy="365760"/>
          </a:xfrm>
          <a:prstGeom prst="rect">
            <a:avLst/>
          </a:prstGeom>
          <a:noFill/>
        </p:spPr>
        <p:txBody>
          <a:bodyPr wrap="square" lIns="45720" tIns="18288" rIns="45720" bIns="18288" anchor="t">
            <a:spAutoFit/>
          </a:bodyPr>
          <a:lstStyle/>
          <a:p>
            <a:pPr algn="ctr"/>
            <a:r>
              <a:rPr sz="1600" b="0">
                <a:solidFill>
                  <a:srgbClr val="333333"/>
                </a:solidFill>
                <a:latin typeface="Calibri"/>
              </a:rPr>
              <a:t>Supervisor: Dr. Vinod Pankajakshan</a:t>
            </a:r>
          </a:p>
        </p:txBody>
      </p:sp>
      <p:sp>
        <p:nvSpPr>
          <p:cNvPr id="6" name="TextBox 5"/>
          <p:cNvSpPr txBox="1"/>
          <p:nvPr/>
        </p:nvSpPr>
        <p:spPr>
          <a:xfrm>
            <a:off x="548640" y="4069080"/>
            <a:ext cx="8046720" cy="365760"/>
          </a:xfrm>
          <a:prstGeom prst="rect">
            <a:avLst/>
          </a:prstGeom>
          <a:noFill/>
        </p:spPr>
        <p:txBody>
          <a:bodyPr wrap="square" lIns="45720" tIns="18288" rIns="45720" bIns="18288" anchor="t">
            <a:spAutoFit/>
          </a:bodyPr>
          <a:lstStyle/>
          <a:p>
            <a:pPr algn="ctr"/>
            <a:r>
              <a:rPr sz="1400" b="0">
                <a:solidFill>
                  <a:srgbClr val="6B6B6B"/>
                </a:solidFill>
                <a:latin typeface="Calibri"/>
              </a:rPr>
              <a:t>Department of Electronics and Communication Engineering</a:t>
            </a:r>
          </a:p>
        </p:txBody>
      </p:sp>
      <p:sp>
        <p:nvSpPr>
          <p:cNvPr id="7" name="TextBox 6"/>
          <p:cNvSpPr txBox="1"/>
          <p:nvPr/>
        </p:nvSpPr>
        <p:spPr>
          <a:xfrm>
            <a:off x="548640" y="4389120"/>
            <a:ext cx="8046720" cy="365760"/>
          </a:xfrm>
          <a:prstGeom prst="rect">
            <a:avLst/>
          </a:prstGeom>
          <a:noFill/>
        </p:spPr>
        <p:txBody>
          <a:bodyPr wrap="square" lIns="45720" tIns="18288" rIns="45720" bIns="18288" anchor="t">
            <a:spAutoFit/>
          </a:bodyPr>
          <a:lstStyle/>
          <a:p>
            <a:pPr algn="ctr"/>
            <a:r>
              <a:rPr sz="1400" b="0">
                <a:solidFill>
                  <a:srgbClr val="6B6B6B"/>
                </a:solidFill>
                <a:latin typeface="Calibri"/>
              </a:rPr>
              <a:t>Indian Institute of Technology Roorkee  ·  B.Tech Project (ECN-400B)  ·  May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400" b="1">
                <a:solidFill>
                  <a:srgbClr val="0F3F7A"/>
                </a:solidFill>
                <a:latin typeface="Calibri"/>
              </a:rPr>
              <a:t>Motivation — Why Speech Therapy Needs Better Tools</a:t>
            </a:r>
          </a:p>
        </p:txBody>
      </p:sp>
      <p:sp>
        <p:nvSpPr>
          <p:cNvPr id="3" name="Content Placeholder 2"/>
          <p:cNvSpPr>
            <a:spLocks noGrp="1"/>
          </p:cNvSpPr>
          <p:nvPr>
            <p:ph sz="half" idx="2"/>
          </p:nvPr>
        </p:nvSpPr>
        <p:spPr/>
        <p:txBody>
          <a:bodyPr/>
          <a:lstStyle/>
          <a:p>
            <a:endParaRPr/>
          </a:p>
        </p:txBody>
      </p:sp>
      <p:sp>
        <p:nvSpPr>
          <p:cNvPr id="4" name="Rounded Rectangle 3"/>
          <p:cNvSpPr/>
          <p:nvPr/>
        </p:nvSpPr>
        <p:spPr>
          <a:xfrm>
            <a:off x="274320" y="1280160"/>
            <a:ext cx="4206240" cy="4754880"/>
          </a:xfrm>
          <a:prstGeom prst="round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417320"/>
            <a:ext cx="3840480" cy="313932"/>
          </a:xfrm>
          <a:prstGeom prst="rect">
            <a:avLst/>
          </a:prstGeom>
          <a:noFill/>
        </p:spPr>
        <p:txBody>
          <a:bodyPr wrap="square" lIns="45720" tIns="18288" rIns="45720" bIns="18288" anchor="t">
            <a:spAutoFit/>
          </a:bodyPr>
          <a:lstStyle/>
          <a:p>
            <a:pPr algn="l"/>
            <a:r>
              <a:rPr lang="en-IN" sz="1800" b="1" dirty="0">
                <a:solidFill>
                  <a:srgbClr val="0F3F7A"/>
                </a:solidFill>
                <a:latin typeface="Calibri"/>
              </a:rPr>
              <a:t>   </a:t>
            </a:r>
            <a:r>
              <a:rPr sz="1800" b="1" dirty="0">
                <a:solidFill>
                  <a:srgbClr val="0F3F7A"/>
                </a:solidFill>
                <a:latin typeface="Calibri"/>
              </a:rPr>
              <a:t>The Patient's View</a:t>
            </a:r>
          </a:p>
        </p:txBody>
      </p:sp>
      <p:sp>
        <p:nvSpPr>
          <p:cNvPr id="6" name="TextBox 5"/>
          <p:cNvSpPr txBox="1"/>
          <p:nvPr/>
        </p:nvSpPr>
        <p:spPr>
          <a:xfrm>
            <a:off x="457200" y="1920240"/>
            <a:ext cx="3840480" cy="4114800"/>
          </a:xfrm>
          <a:prstGeom prst="rect">
            <a:avLst/>
          </a:prstGeom>
          <a:noFill/>
        </p:spPr>
        <p:txBody>
          <a:bodyPr wrap="square" lIns="45720" rIns="45720">
            <a:spAutoFit/>
          </a:bodyPr>
          <a:lstStyle/>
          <a:p>
            <a:pPr algn="l">
              <a:spcAft>
                <a:spcPts val="1000"/>
              </a:spcAft>
            </a:pPr>
            <a:r>
              <a:rPr sz="1400">
                <a:solidFill>
                  <a:srgbClr val="333333"/>
                </a:solidFill>
                <a:latin typeface="Calibri"/>
              </a:rPr>
              <a:t>•  Traditional therapy relies on mirrors and the therapist's face — patients struggle to map another face onto their own</a:t>
            </a:r>
          </a:p>
          <a:p>
            <a:pPr algn="l">
              <a:spcAft>
                <a:spcPts val="1000"/>
              </a:spcAft>
            </a:pPr>
            <a:r>
              <a:rPr sz="1400">
                <a:solidFill>
                  <a:srgbClr val="333333"/>
                </a:solidFill>
                <a:latin typeface="Calibri"/>
              </a:rPr>
              <a:t>•  Hard to remember the correct lip shape between sessions</a:t>
            </a:r>
          </a:p>
          <a:p>
            <a:pPr algn="l">
              <a:spcAft>
                <a:spcPts val="1000"/>
              </a:spcAft>
            </a:pPr>
            <a:r>
              <a:rPr sz="1400">
                <a:solidFill>
                  <a:srgbClr val="333333"/>
                </a:solidFill>
                <a:latin typeface="Calibri"/>
              </a:rPr>
              <a:t>•  Practice at home lacks structured feedback</a:t>
            </a:r>
          </a:p>
          <a:p>
            <a:pPr algn="l">
              <a:spcAft>
                <a:spcPts val="1000"/>
              </a:spcAft>
            </a:pPr>
            <a:r>
              <a:rPr sz="1400">
                <a:solidFill>
                  <a:srgbClr val="333333"/>
                </a:solidFill>
                <a:latin typeface="Calibri"/>
              </a:rPr>
              <a:t>•  Patients with articulation disorders need visual cues, not only audio</a:t>
            </a:r>
          </a:p>
        </p:txBody>
      </p:sp>
      <p:sp>
        <p:nvSpPr>
          <p:cNvPr id="7" name="Rounded Rectangle 6"/>
          <p:cNvSpPr/>
          <p:nvPr/>
        </p:nvSpPr>
        <p:spPr>
          <a:xfrm>
            <a:off x="4663440" y="1280160"/>
            <a:ext cx="4206240" cy="4754880"/>
          </a:xfrm>
          <a:prstGeom prst="round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46320" y="1417320"/>
            <a:ext cx="3840480" cy="313932"/>
          </a:xfrm>
          <a:prstGeom prst="rect">
            <a:avLst/>
          </a:prstGeom>
          <a:noFill/>
        </p:spPr>
        <p:txBody>
          <a:bodyPr wrap="square" lIns="45720" tIns="18288" rIns="45720" bIns="18288" anchor="t">
            <a:spAutoFit/>
          </a:bodyPr>
          <a:lstStyle/>
          <a:p>
            <a:pPr algn="l"/>
            <a:r>
              <a:rPr lang="en-IN" sz="1800" b="1" dirty="0">
                <a:solidFill>
                  <a:srgbClr val="0F3F7A"/>
                </a:solidFill>
                <a:latin typeface="Calibri"/>
              </a:rPr>
              <a:t>   </a:t>
            </a:r>
            <a:r>
              <a:rPr sz="1800" b="1" dirty="0">
                <a:solidFill>
                  <a:srgbClr val="0F3F7A"/>
                </a:solidFill>
                <a:latin typeface="Calibri"/>
              </a:rPr>
              <a:t>What We Set Out to Build</a:t>
            </a:r>
          </a:p>
        </p:txBody>
      </p:sp>
      <p:sp>
        <p:nvSpPr>
          <p:cNvPr id="9" name="TextBox 8"/>
          <p:cNvSpPr txBox="1"/>
          <p:nvPr/>
        </p:nvSpPr>
        <p:spPr>
          <a:xfrm>
            <a:off x="4846320" y="1920240"/>
            <a:ext cx="3840480" cy="4114800"/>
          </a:xfrm>
          <a:prstGeom prst="rect">
            <a:avLst/>
          </a:prstGeom>
          <a:noFill/>
        </p:spPr>
        <p:txBody>
          <a:bodyPr wrap="square" lIns="45720" rIns="45720">
            <a:spAutoFit/>
          </a:bodyPr>
          <a:lstStyle/>
          <a:p>
            <a:pPr algn="l">
              <a:spcAft>
                <a:spcPts val="1000"/>
              </a:spcAft>
            </a:pPr>
            <a:r>
              <a:rPr sz="1400">
                <a:solidFill>
                  <a:srgbClr val="333333"/>
                </a:solidFill>
                <a:latin typeface="Calibri"/>
              </a:rPr>
              <a:t>•  Show the patient performing the correct exercise on their own face</a:t>
            </a:r>
          </a:p>
          <a:p>
            <a:pPr algn="l">
              <a:spcAft>
                <a:spcPts val="1000"/>
              </a:spcAft>
            </a:pPr>
            <a:r>
              <a:rPr sz="1400">
                <a:solidFill>
                  <a:srgbClr val="333333"/>
                </a:solidFill>
                <a:latin typeface="Calibri"/>
              </a:rPr>
              <a:t>•  Use the patient's own voice (or a close-matching default)</a:t>
            </a:r>
          </a:p>
          <a:p>
            <a:pPr algn="l">
              <a:spcAft>
                <a:spcPts val="1000"/>
              </a:spcAft>
            </a:pPr>
            <a:r>
              <a:rPr sz="1400">
                <a:solidFill>
                  <a:srgbClr val="333333"/>
                </a:solidFill>
                <a:latin typeface="Calibri"/>
              </a:rPr>
              <a:t>•  Provide an objective score and feedback against the therapist's reference</a:t>
            </a:r>
          </a:p>
          <a:p>
            <a:pPr algn="l">
              <a:spcAft>
                <a:spcPts val="1000"/>
              </a:spcAft>
            </a:pPr>
            <a:r>
              <a:rPr sz="1400">
                <a:solidFill>
                  <a:srgbClr val="333333"/>
                </a:solidFill>
                <a:latin typeface="Calibri"/>
              </a:rPr>
              <a:t>•  Keep inference light enough to run on consumer hardware — no cluster required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400" b="1">
                <a:solidFill>
                  <a:srgbClr val="0F3F7A"/>
                </a:solidFill>
                <a:latin typeface="Calibri"/>
              </a:rPr>
              <a:t>Problem Statement</a:t>
            </a:r>
          </a:p>
        </p:txBody>
      </p:sp>
      <p:sp>
        <p:nvSpPr>
          <p:cNvPr id="3" name="Content Placeholder 2"/>
          <p:cNvSpPr>
            <a:spLocks noGrp="1"/>
          </p:cNvSpPr>
          <p:nvPr>
            <p:ph sz="half" idx="2"/>
          </p:nvPr>
        </p:nvSpPr>
        <p:spPr/>
        <p:txBody>
          <a:bodyPr/>
          <a:lstStyle/>
          <a:p>
            <a:endParaRPr/>
          </a:p>
        </p:txBody>
      </p:sp>
      <p:sp>
        <p:nvSpPr>
          <p:cNvPr id="4" name="TextBox 3"/>
          <p:cNvSpPr txBox="1"/>
          <p:nvPr/>
        </p:nvSpPr>
        <p:spPr>
          <a:xfrm>
            <a:off x="457200" y="1188720"/>
            <a:ext cx="8321040" cy="548640"/>
          </a:xfrm>
          <a:prstGeom prst="rect">
            <a:avLst/>
          </a:prstGeom>
          <a:noFill/>
        </p:spPr>
        <p:txBody>
          <a:bodyPr wrap="square" lIns="45720" tIns="18288" rIns="45720" bIns="18288" anchor="t">
            <a:spAutoFit/>
          </a:bodyPr>
          <a:lstStyle/>
          <a:p>
            <a:pPr algn="l"/>
            <a:r>
              <a:rPr sz="1800" b="1">
                <a:solidFill>
                  <a:srgbClr val="0F3F7A"/>
                </a:solidFill>
                <a:latin typeface="Calibri"/>
              </a:rPr>
              <a:t>Given:</a:t>
            </a:r>
          </a:p>
        </p:txBody>
      </p:sp>
      <p:sp>
        <p:nvSpPr>
          <p:cNvPr id="5" name="TextBox 4"/>
          <p:cNvSpPr txBox="1"/>
          <p:nvPr/>
        </p:nvSpPr>
        <p:spPr>
          <a:xfrm>
            <a:off x="640080" y="1691640"/>
            <a:ext cx="8229600" cy="1280160"/>
          </a:xfrm>
          <a:prstGeom prst="rect">
            <a:avLst/>
          </a:prstGeom>
          <a:noFill/>
        </p:spPr>
        <p:txBody>
          <a:bodyPr wrap="square" lIns="45720" rIns="45720">
            <a:spAutoFit/>
          </a:bodyPr>
          <a:lstStyle/>
          <a:p>
            <a:pPr algn="l">
              <a:spcAft>
                <a:spcPts val="400"/>
              </a:spcAft>
            </a:pPr>
            <a:r>
              <a:rPr sz="1600">
                <a:solidFill>
                  <a:srgbClr val="333333"/>
                </a:solidFill>
                <a:latin typeface="Calibri"/>
              </a:rPr>
              <a:t>•  A single image of the patient</a:t>
            </a:r>
          </a:p>
          <a:p>
            <a:pPr algn="l">
              <a:spcAft>
                <a:spcPts val="400"/>
              </a:spcAft>
            </a:pPr>
            <a:r>
              <a:rPr sz="1600">
                <a:solidFill>
                  <a:srgbClr val="333333"/>
                </a:solidFill>
                <a:latin typeface="Calibri"/>
              </a:rPr>
              <a:t>•  A reference video of the therapist performing a speech exercise</a:t>
            </a:r>
          </a:p>
          <a:p>
            <a:pPr algn="l">
              <a:spcAft>
                <a:spcPts val="400"/>
              </a:spcAft>
            </a:pPr>
            <a:r>
              <a:rPr sz="1600">
                <a:solidFill>
                  <a:srgbClr val="333333"/>
                </a:solidFill>
                <a:latin typeface="Calibri"/>
              </a:rPr>
              <a:t>•  (Optional) a voice sample from the patient</a:t>
            </a:r>
          </a:p>
        </p:txBody>
      </p:sp>
      <p:sp>
        <p:nvSpPr>
          <p:cNvPr id="6" name="TextBox 5"/>
          <p:cNvSpPr txBox="1"/>
          <p:nvPr/>
        </p:nvSpPr>
        <p:spPr>
          <a:xfrm>
            <a:off x="457200" y="3108960"/>
            <a:ext cx="8321040" cy="313932"/>
          </a:xfrm>
          <a:prstGeom prst="rect">
            <a:avLst/>
          </a:prstGeom>
          <a:noFill/>
        </p:spPr>
        <p:txBody>
          <a:bodyPr wrap="square" lIns="45720" tIns="18288" rIns="45720" bIns="18288" anchor="t">
            <a:spAutoFit/>
          </a:bodyPr>
          <a:lstStyle/>
          <a:p>
            <a:pPr algn="l"/>
            <a:r>
              <a:rPr lang="en-IN" b="1" dirty="0">
                <a:solidFill>
                  <a:srgbClr val="0F3F7A"/>
                </a:solidFill>
                <a:latin typeface="Calibri"/>
              </a:rPr>
              <a:t>Result</a:t>
            </a:r>
            <a:r>
              <a:rPr sz="1800" b="1" dirty="0">
                <a:solidFill>
                  <a:srgbClr val="0F3F7A"/>
                </a:solidFill>
                <a:latin typeface="Calibri"/>
              </a:rPr>
              <a:t>:</a:t>
            </a:r>
          </a:p>
        </p:txBody>
      </p:sp>
      <p:sp>
        <p:nvSpPr>
          <p:cNvPr id="7" name="TextBox 6"/>
          <p:cNvSpPr txBox="1"/>
          <p:nvPr/>
        </p:nvSpPr>
        <p:spPr>
          <a:xfrm>
            <a:off x="640080" y="3611880"/>
            <a:ext cx="8229600" cy="1463040"/>
          </a:xfrm>
          <a:prstGeom prst="rect">
            <a:avLst/>
          </a:prstGeom>
          <a:noFill/>
        </p:spPr>
        <p:txBody>
          <a:bodyPr wrap="square" lIns="45720" rIns="45720">
            <a:spAutoFit/>
          </a:bodyPr>
          <a:lstStyle/>
          <a:p>
            <a:pPr algn="l">
              <a:spcAft>
                <a:spcPts val="400"/>
              </a:spcAft>
            </a:pPr>
            <a:r>
              <a:rPr sz="1600">
                <a:solidFill>
                  <a:srgbClr val="333333"/>
                </a:solidFill>
                <a:latin typeface="Calibri"/>
              </a:rPr>
              <a:t>•  A video of the patient's face performing the same exercise</a:t>
            </a:r>
          </a:p>
          <a:p>
            <a:pPr algn="l">
              <a:spcAft>
                <a:spcPts val="400"/>
              </a:spcAft>
            </a:pPr>
            <a:r>
              <a:rPr sz="1600">
                <a:solidFill>
                  <a:srgbClr val="333333"/>
                </a:solidFill>
                <a:latin typeface="Calibri"/>
              </a:rPr>
              <a:t>•  Optionally re-voiced with the patient's own voice or a close-matching default</a:t>
            </a:r>
          </a:p>
          <a:p>
            <a:pPr algn="l">
              <a:spcAft>
                <a:spcPts val="400"/>
              </a:spcAft>
            </a:pPr>
            <a:r>
              <a:rPr sz="1600">
                <a:solidFill>
                  <a:srgbClr val="333333"/>
                </a:solidFill>
                <a:latin typeface="Calibri"/>
              </a:rPr>
              <a:t>•  An objective score comparing the patient's practice attempt against the reference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 name="Connector 31"/>
          <p:cNvCxnSpPr/>
          <p:nvPr/>
        </p:nvCxnSpPr>
        <p:spPr>
          <a:xfrm>
            <a:off x="7772400" y="2926080"/>
            <a:ext cx="0" cy="1645920"/>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 name="TextBox 1"/>
          <p:cNvSpPr txBox="1"/>
          <p:nvPr/>
        </p:nvSpPr>
        <p:spPr>
          <a:xfrm>
            <a:off x="274320" y="228600"/>
            <a:ext cx="8595360" cy="548640"/>
          </a:xfrm>
          <a:prstGeom prst="rect">
            <a:avLst/>
          </a:prstGeom>
          <a:noFill/>
        </p:spPr>
        <p:txBody>
          <a:bodyPr wrap="square" lIns="45720" tIns="18288" rIns="45720" bIns="18288" anchor="t">
            <a:spAutoFit/>
          </a:bodyPr>
          <a:lstStyle/>
          <a:p>
            <a:pPr algn="l"/>
            <a:r>
              <a:rPr sz="2600" b="1">
                <a:solidFill>
                  <a:srgbClr val="0F3F7A"/>
                </a:solidFill>
                <a:latin typeface="Calibri"/>
              </a:rPr>
              <a:t>Proposed End-to-End System</a:t>
            </a:r>
          </a:p>
        </p:txBody>
      </p:sp>
      <p:sp>
        <p:nvSpPr>
          <p:cNvPr id="4" name="Rounded Rectangle 3"/>
          <p:cNvSpPr/>
          <p:nvPr/>
        </p:nvSpPr>
        <p:spPr>
          <a:xfrm>
            <a:off x="274320" y="1280160"/>
            <a:ext cx="2194560" cy="548640"/>
          </a:xfrm>
          <a:prstGeom prst="roundRect">
            <a:avLst/>
          </a:prstGeom>
          <a:solidFill>
            <a:srgbClr val="0F3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1280160"/>
            <a:ext cx="2194560" cy="548640"/>
          </a:xfrm>
          <a:prstGeom prst="rect">
            <a:avLst/>
          </a:prstGeom>
          <a:noFill/>
        </p:spPr>
        <p:txBody>
          <a:bodyPr wrap="square" lIns="45720" tIns="18288" rIns="45720" bIns="18288" anchor="ctr">
            <a:spAutoFit/>
          </a:bodyPr>
          <a:lstStyle/>
          <a:p>
            <a:pPr algn="ctr"/>
            <a:r>
              <a:rPr sz="1400" b="1">
                <a:solidFill>
                  <a:srgbClr val="FFFFFF"/>
                </a:solidFill>
                <a:latin typeface="Calibri"/>
              </a:rPr>
              <a:t>Patient Image</a:t>
            </a:r>
          </a:p>
        </p:txBody>
      </p:sp>
      <p:sp>
        <p:nvSpPr>
          <p:cNvPr id="6" name="Rounded Rectangle 5"/>
          <p:cNvSpPr/>
          <p:nvPr/>
        </p:nvSpPr>
        <p:spPr>
          <a:xfrm>
            <a:off x="274320" y="2057400"/>
            <a:ext cx="2194560" cy="548640"/>
          </a:xfrm>
          <a:prstGeom prst="roundRect">
            <a:avLst/>
          </a:prstGeom>
          <a:solidFill>
            <a:srgbClr val="0F3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2057400"/>
            <a:ext cx="2194560" cy="548640"/>
          </a:xfrm>
          <a:prstGeom prst="rect">
            <a:avLst/>
          </a:prstGeom>
          <a:noFill/>
        </p:spPr>
        <p:txBody>
          <a:bodyPr wrap="square" lIns="45720" tIns="18288" rIns="45720" bIns="18288" anchor="ctr">
            <a:spAutoFit/>
          </a:bodyPr>
          <a:lstStyle/>
          <a:p>
            <a:pPr algn="ctr"/>
            <a:r>
              <a:rPr sz="1200" b="1">
                <a:solidFill>
                  <a:srgbClr val="FFFFFF"/>
                </a:solidFill>
                <a:latin typeface="Calibri"/>
              </a:rPr>
              <a:t>Therapist
Reference Video</a:t>
            </a:r>
          </a:p>
        </p:txBody>
      </p:sp>
      <p:sp>
        <p:nvSpPr>
          <p:cNvPr id="8" name="Rounded Rectangle 7"/>
          <p:cNvSpPr/>
          <p:nvPr/>
        </p:nvSpPr>
        <p:spPr>
          <a:xfrm>
            <a:off x="274320" y="2834640"/>
            <a:ext cx="2194560" cy="548640"/>
          </a:xfrm>
          <a:prstGeom prst="roundRect">
            <a:avLst/>
          </a:prstGeom>
          <a:solidFill>
            <a:srgbClr val="0F3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2834640"/>
            <a:ext cx="2194560" cy="548640"/>
          </a:xfrm>
          <a:prstGeom prst="rect">
            <a:avLst/>
          </a:prstGeom>
          <a:noFill/>
        </p:spPr>
        <p:txBody>
          <a:bodyPr wrap="square" lIns="45720" tIns="18288" rIns="45720" bIns="18288" anchor="ctr">
            <a:spAutoFit/>
          </a:bodyPr>
          <a:lstStyle/>
          <a:p>
            <a:pPr algn="ctr"/>
            <a:r>
              <a:rPr sz="1200" b="1">
                <a:solidFill>
                  <a:srgbClr val="FFFFFF"/>
                </a:solidFill>
                <a:latin typeface="Calibri"/>
              </a:rPr>
              <a:t>Patient's Voice
Sample (optional)</a:t>
            </a:r>
          </a:p>
        </p:txBody>
      </p:sp>
      <p:sp>
        <p:nvSpPr>
          <p:cNvPr id="10" name="Rounded Rectangle 9"/>
          <p:cNvSpPr/>
          <p:nvPr/>
        </p:nvSpPr>
        <p:spPr>
          <a:xfrm>
            <a:off x="3108960" y="1280160"/>
            <a:ext cx="3017520" cy="2468880"/>
          </a:xfrm>
          <a:prstGeom prst="roundRect">
            <a:avLst/>
          </a:prstGeom>
          <a:solidFill>
            <a:srgbClr val="1E6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108960" y="1371600"/>
            <a:ext cx="3017520" cy="457200"/>
          </a:xfrm>
          <a:prstGeom prst="rect">
            <a:avLst/>
          </a:prstGeom>
          <a:noFill/>
        </p:spPr>
        <p:txBody>
          <a:bodyPr wrap="square" lIns="45720" tIns="18288" rIns="45720" bIns="18288" anchor="t">
            <a:spAutoFit/>
          </a:bodyPr>
          <a:lstStyle/>
          <a:p>
            <a:pPr algn="ctr"/>
            <a:r>
              <a:rPr sz="1600" b="1">
                <a:solidFill>
                  <a:srgbClr val="FFFFFF"/>
                </a:solidFill>
                <a:latin typeface="Calibri"/>
              </a:rPr>
              <a:t>Generation Core</a:t>
            </a:r>
          </a:p>
        </p:txBody>
      </p:sp>
      <p:sp>
        <p:nvSpPr>
          <p:cNvPr id="12" name="TextBox 11"/>
          <p:cNvSpPr txBox="1"/>
          <p:nvPr/>
        </p:nvSpPr>
        <p:spPr>
          <a:xfrm>
            <a:off x="3200400" y="1874519"/>
            <a:ext cx="2834640" cy="1828800"/>
          </a:xfrm>
          <a:prstGeom prst="rect">
            <a:avLst/>
          </a:prstGeom>
          <a:noFill/>
        </p:spPr>
        <p:txBody>
          <a:bodyPr wrap="square" lIns="45720" rIns="45720">
            <a:spAutoFit/>
          </a:bodyPr>
          <a:lstStyle/>
          <a:p>
            <a:pPr algn="l">
              <a:spcAft>
                <a:spcPts val="600"/>
              </a:spcAft>
            </a:pPr>
            <a:r>
              <a:rPr sz="1300">
                <a:solidFill>
                  <a:srgbClr val="FFFFFF"/>
                </a:solidFill>
                <a:latin typeface="Calibri"/>
              </a:rPr>
              <a:t>•  LivePortrait reenactment</a:t>
            </a:r>
          </a:p>
          <a:p>
            <a:pPr algn="l">
              <a:spcAft>
                <a:spcPts val="600"/>
              </a:spcAft>
            </a:pPr>
            <a:r>
              <a:rPr sz="1300">
                <a:solidFill>
                  <a:srgbClr val="FFFFFF"/>
                </a:solidFill>
                <a:latin typeface="Calibri"/>
              </a:rPr>
              <a:t>•  Seed-VC voice transform</a:t>
            </a:r>
          </a:p>
          <a:p>
            <a:pPr algn="l">
              <a:spcAft>
                <a:spcPts val="600"/>
              </a:spcAft>
            </a:pPr>
            <a:r>
              <a:rPr sz="1300">
                <a:solidFill>
                  <a:srgbClr val="FFFFFF"/>
                </a:solidFill>
                <a:latin typeface="Calibri"/>
              </a:rPr>
              <a:t>•  Audio–video sync</a:t>
            </a:r>
          </a:p>
        </p:txBody>
      </p:sp>
      <p:sp>
        <p:nvSpPr>
          <p:cNvPr id="13" name="Rounded Rectangle 12"/>
          <p:cNvSpPr/>
          <p:nvPr/>
        </p:nvSpPr>
        <p:spPr>
          <a:xfrm>
            <a:off x="6675120" y="2286000"/>
            <a:ext cx="2194560" cy="64008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75120" y="2286000"/>
            <a:ext cx="2194560" cy="640080"/>
          </a:xfrm>
          <a:prstGeom prst="rect">
            <a:avLst/>
          </a:prstGeom>
          <a:noFill/>
        </p:spPr>
        <p:txBody>
          <a:bodyPr wrap="square" lIns="45720" tIns="18288" rIns="45720" bIns="18288" anchor="ctr">
            <a:spAutoFit/>
          </a:bodyPr>
          <a:lstStyle/>
          <a:p>
            <a:pPr algn="ctr"/>
            <a:r>
              <a:rPr sz="1200" b="1">
                <a:solidFill>
                  <a:srgbClr val="FFFFFF"/>
                </a:solidFill>
                <a:latin typeface="Calibri"/>
              </a:rPr>
              <a:t>Generated Patient
Demo Video</a:t>
            </a:r>
          </a:p>
        </p:txBody>
      </p:sp>
      <p:sp>
        <p:nvSpPr>
          <p:cNvPr id="15" name="Rounded Rectangle 14"/>
          <p:cNvSpPr/>
          <p:nvPr/>
        </p:nvSpPr>
        <p:spPr>
          <a:xfrm>
            <a:off x="6675120" y="3200400"/>
            <a:ext cx="2194560" cy="64008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274320" y="4572000"/>
            <a:ext cx="8595360" cy="1737360"/>
          </a:xfrm>
          <a:prstGeom prst="round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4663440"/>
            <a:ext cx="8229600" cy="457200"/>
          </a:xfrm>
          <a:prstGeom prst="rect">
            <a:avLst/>
          </a:prstGeom>
          <a:noFill/>
        </p:spPr>
        <p:txBody>
          <a:bodyPr wrap="square" lIns="45720" tIns="18288" rIns="45720" bIns="18288" anchor="t">
            <a:spAutoFit/>
          </a:bodyPr>
          <a:lstStyle/>
          <a:p>
            <a:pPr algn="l"/>
            <a:r>
              <a:rPr sz="1600" b="1">
                <a:solidFill>
                  <a:srgbClr val="0F3F7A"/>
                </a:solidFill>
                <a:latin typeface="Calibri"/>
              </a:rPr>
              <a:t>Evaluation Module</a:t>
            </a:r>
          </a:p>
        </p:txBody>
      </p:sp>
      <p:sp>
        <p:nvSpPr>
          <p:cNvPr id="19" name="Rounded Rectangle 18"/>
          <p:cNvSpPr/>
          <p:nvPr/>
        </p:nvSpPr>
        <p:spPr>
          <a:xfrm>
            <a:off x="457200" y="5166360"/>
            <a:ext cx="2651760" cy="1005840"/>
          </a:xfrm>
          <a:prstGeom prst="roundRect">
            <a:avLst/>
          </a:prstGeom>
          <a:solidFill>
            <a:srgbClr val="0F3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5212080"/>
            <a:ext cx="2651760" cy="365760"/>
          </a:xfrm>
          <a:prstGeom prst="rect">
            <a:avLst/>
          </a:prstGeom>
          <a:noFill/>
        </p:spPr>
        <p:txBody>
          <a:bodyPr wrap="square" lIns="45720" tIns="18288" rIns="45720" bIns="18288" anchor="t">
            <a:spAutoFit/>
          </a:bodyPr>
          <a:lstStyle/>
          <a:p>
            <a:pPr algn="ctr"/>
            <a:r>
              <a:rPr sz="1200" b="1">
                <a:solidFill>
                  <a:srgbClr val="FFFFFF"/>
                </a:solidFill>
                <a:latin typeface="Calibri"/>
              </a:rPr>
              <a:t>Articulation  (30 %)</a:t>
            </a:r>
          </a:p>
        </p:txBody>
      </p:sp>
      <p:sp>
        <p:nvSpPr>
          <p:cNvPr id="21" name="TextBox 20"/>
          <p:cNvSpPr txBox="1"/>
          <p:nvPr/>
        </p:nvSpPr>
        <p:spPr>
          <a:xfrm>
            <a:off x="457200" y="5532120"/>
            <a:ext cx="2651760" cy="344710"/>
          </a:xfrm>
          <a:prstGeom prst="rect">
            <a:avLst/>
          </a:prstGeom>
          <a:noFill/>
        </p:spPr>
        <p:txBody>
          <a:bodyPr wrap="square" lIns="45720" tIns="18288" rIns="45720" bIns="18288" anchor="t">
            <a:spAutoFit/>
          </a:bodyPr>
          <a:lstStyle/>
          <a:p>
            <a:pPr algn="ctr"/>
            <a:r>
              <a:rPr sz="1000" b="0" dirty="0" err="1">
                <a:solidFill>
                  <a:srgbClr val="FFFFFF"/>
                </a:solidFill>
                <a:latin typeface="Calibri"/>
              </a:rPr>
              <a:t>LivePortrait</a:t>
            </a:r>
            <a:r>
              <a:rPr sz="1000" b="0" dirty="0">
                <a:solidFill>
                  <a:srgbClr val="FFFFFF"/>
                </a:solidFill>
                <a:latin typeface="Calibri"/>
              </a:rPr>
              <a:t> lip </a:t>
            </a:r>
            <a:r>
              <a:rPr sz="1000" b="0" dirty="0" err="1">
                <a:solidFill>
                  <a:srgbClr val="FFFFFF"/>
                </a:solidFill>
                <a:latin typeface="Calibri"/>
              </a:rPr>
              <a:t>kp</a:t>
            </a:r>
            <a:r>
              <a:rPr sz="1000" b="0" dirty="0">
                <a:solidFill>
                  <a:srgbClr val="FFFFFF"/>
                </a:solidFill>
                <a:latin typeface="Calibri"/>
              </a:rPr>
              <a:t>
+ </a:t>
            </a:r>
            <a:r>
              <a:rPr lang="en-IN" sz="1000" dirty="0" err="1">
                <a:solidFill>
                  <a:srgbClr val="FFFFFF"/>
                </a:solidFill>
                <a:latin typeface="Calibri"/>
              </a:rPr>
              <a:t>FastDTW</a:t>
            </a:r>
            <a:r>
              <a:rPr lang="en-IN" sz="1000" dirty="0">
                <a:solidFill>
                  <a:srgbClr val="FFFFFF"/>
                </a:solidFill>
                <a:latin typeface="Calibri"/>
              </a:rPr>
              <a:t> (cosine)</a:t>
            </a:r>
            <a:endParaRPr sz="1000" b="0" dirty="0">
              <a:solidFill>
                <a:srgbClr val="FFFFFF"/>
              </a:solidFill>
              <a:latin typeface="Calibri"/>
            </a:endParaRPr>
          </a:p>
        </p:txBody>
      </p:sp>
      <p:sp>
        <p:nvSpPr>
          <p:cNvPr id="22" name="Rounded Rectangle 21"/>
          <p:cNvSpPr/>
          <p:nvPr/>
        </p:nvSpPr>
        <p:spPr>
          <a:xfrm>
            <a:off x="3246120" y="5166360"/>
            <a:ext cx="2651760" cy="1005840"/>
          </a:xfrm>
          <a:prstGeom prst="roundRect">
            <a:avLst/>
          </a:prstGeom>
          <a:solidFill>
            <a:srgbClr val="1E6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46120" y="5212080"/>
            <a:ext cx="2651760" cy="365760"/>
          </a:xfrm>
          <a:prstGeom prst="rect">
            <a:avLst/>
          </a:prstGeom>
          <a:noFill/>
        </p:spPr>
        <p:txBody>
          <a:bodyPr wrap="square" lIns="45720" tIns="18288" rIns="45720" bIns="18288" anchor="t">
            <a:spAutoFit/>
          </a:bodyPr>
          <a:lstStyle/>
          <a:p>
            <a:pPr algn="ctr"/>
            <a:r>
              <a:rPr sz="1200" b="1">
                <a:solidFill>
                  <a:srgbClr val="FFFFFF"/>
                </a:solidFill>
                <a:latin typeface="Calibri"/>
              </a:rPr>
              <a:t>Dialogue Acoustic  (30 %)</a:t>
            </a:r>
          </a:p>
        </p:txBody>
      </p:sp>
      <p:sp>
        <p:nvSpPr>
          <p:cNvPr id="24" name="TextBox 23"/>
          <p:cNvSpPr txBox="1"/>
          <p:nvPr/>
        </p:nvSpPr>
        <p:spPr>
          <a:xfrm>
            <a:off x="3246120" y="5532120"/>
            <a:ext cx="2651760" cy="640080"/>
          </a:xfrm>
          <a:prstGeom prst="rect">
            <a:avLst/>
          </a:prstGeom>
          <a:noFill/>
        </p:spPr>
        <p:txBody>
          <a:bodyPr wrap="square" lIns="45720" tIns="18288" rIns="45720" bIns="18288" anchor="t">
            <a:spAutoFit/>
          </a:bodyPr>
          <a:lstStyle/>
          <a:p>
            <a:pPr algn="ctr"/>
            <a:r>
              <a:rPr sz="1000" b="0" dirty="0" err="1">
                <a:solidFill>
                  <a:srgbClr val="FFFFFF"/>
                </a:solidFill>
                <a:latin typeface="Calibri"/>
              </a:rPr>
              <a:t>silero-vad</a:t>
            </a:r>
            <a:r>
              <a:rPr sz="1000" b="0" dirty="0">
                <a:solidFill>
                  <a:srgbClr val="FFFFFF"/>
                </a:solidFill>
                <a:latin typeface="Calibri"/>
              </a:rPr>
              <a:t> + </a:t>
            </a:r>
            <a:r>
              <a:rPr sz="1000" b="0" dirty="0" err="1">
                <a:solidFill>
                  <a:srgbClr val="FFFFFF"/>
                </a:solidFill>
                <a:latin typeface="Calibri"/>
              </a:rPr>
              <a:t>ContentVec</a:t>
            </a:r>
            <a:r>
              <a:rPr sz="1000" b="0" dirty="0">
                <a:solidFill>
                  <a:srgbClr val="FFFFFF"/>
                </a:solidFill>
                <a:latin typeface="Calibri"/>
              </a:rPr>
              <a:t>
+ </a:t>
            </a:r>
            <a:r>
              <a:rPr sz="1000" b="0" dirty="0" err="1">
                <a:solidFill>
                  <a:srgbClr val="FFFFFF"/>
                </a:solidFill>
                <a:latin typeface="Calibri"/>
              </a:rPr>
              <a:t>FastDTW</a:t>
            </a:r>
            <a:r>
              <a:rPr sz="1000" b="0" dirty="0">
                <a:solidFill>
                  <a:srgbClr val="FFFFFF"/>
                </a:solidFill>
                <a:latin typeface="Calibri"/>
              </a:rPr>
              <a:t> (cosine)</a:t>
            </a:r>
          </a:p>
        </p:txBody>
      </p:sp>
      <p:sp>
        <p:nvSpPr>
          <p:cNvPr id="25" name="Rounded Rectangle 24"/>
          <p:cNvSpPr/>
          <p:nvPr/>
        </p:nvSpPr>
        <p:spPr>
          <a:xfrm>
            <a:off x="6035040" y="5166360"/>
            <a:ext cx="2834640" cy="100584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035040" y="5212080"/>
            <a:ext cx="2834640" cy="365760"/>
          </a:xfrm>
          <a:prstGeom prst="rect">
            <a:avLst/>
          </a:prstGeom>
          <a:noFill/>
        </p:spPr>
        <p:txBody>
          <a:bodyPr wrap="square" lIns="45720" tIns="18288" rIns="45720" bIns="18288" anchor="t">
            <a:spAutoFit/>
          </a:bodyPr>
          <a:lstStyle/>
          <a:p>
            <a:pPr algn="ctr"/>
            <a:r>
              <a:rPr sz="1200" b="1">
                <a:solidFill>
                  <a:srgbClr val="FFFFFF"/>
                </a:solidFill>
                <a:latin typeface="Calibri"/>
              </a:rPr>
              <a:t>Dialogue Transcript  (40 %)</a:t>
            </a:r>
          </a:p>
        </p:txBody>
      </p:sp>
      <p:sp>
        <p:nvSpPr>
          <p:cNvPr id="27" name="TextBox 26"/>
          <p:cNvSpPr txBox="1"/>
          <p:nvPr/>
        </p:nvSpPr>
        <p:spPr>
          <a:xfrm>
            <a:off x="6035040" y="5532120"/>
            <a:ext cx="2834640" cy="640080"/>
          </a:xfrm>
          <a:prstGeom prst="rect">
            <a:avLst/>
          </a:prstGeom>
          <a:noFill/>
        </p:spPr>
        <p:txBody>
          <a:bodyPr wrap="square" lIns="45720" tIns="18288" rIns="45720" bIns="18288" anchor="t">
            <a:spAutoFit/>
          </a:bodyPr>
          <a:lstStyle/>
          <a:p>
            <a:pPr algn="ctr"/>
            <a:r>
              <a:rPr sz="1000" b="0">
                <a:solidFill>
                  <a:srgbClr val="FFFFFF"/>
                </a:solidFill>
                <a:latin typeface="Calibri"/>
              </a:rPr>
              <a:t>Whisper transcription
+ Word-Error-Rate</a:t>
            </a:r>
          </a:p>
        </p:txBody>
      </p:sp>
      <p:cxnSp>
        <p:nvCxnSpPr>
          <p:cNvPr id="28" name="Connector 27"/>
          <p:cNvCxnSpPr/>
          <p:nvPr/>
        </p:nvCxnSpPr>
        <p:spPr>
          <a:xfrm>
            <a:off x="2468880" y="1554480"/>
            <a:ext cx="640080" cy="822960"/>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468880" y="2331720"/>
            <a:ext cx="640080" cy="137160"/>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468880" y="2606040"/>
            <a:ext cx="640080" cy="502920"/>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126480" y="2514600"/>
            <a:ext cx="548640" cy="45720"/>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772400" y="3840480"/>
            <a:ext cx="0" cy="731520"/>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675120" y="3200400"/>
            <a:ext cx="2194560" cy="640080"/>
          </a:xfrm>
          <a:prstGeom prst="rect">
            <a:avLst/>
          </a:prstGeom>
          <a:noFill/>
        </p:spPr>
        <p:txBody>
          <a:bodyPr wrap="square" lIns="45720" tIns="18288" rIns="45720" bIns="18288" anchor="ctr">
            <a:spAutoFit/>
          </a:bodyPr>
          <a:lstStyle/>
          <a:p>
            <a:pPr algn="ctr"/>
            <a:r>
              <a:rPr sz="1200" b="1">
                <a:solidFill>
                  <a:srgbClr val="FFFFFF"/>
                </a:solidFill>
                <a:latin typeface="Calibri"/>
              </a:rPr>
              <a:t>Patient's
Practice Recording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400" b="1">
                <a:solidFill>
                  <a:srgbClr val="0F3F7A"/>
                </a:solidFill>
                <a:latin typeface="Calibri"/>
              </a:rPr>
              <a:t>Phase 1 — Improving DiffusionAct</a:t>
            </a:r>
          </a:p>
        </p:txBody>
      </p:sp>
      <p:sp>
        <p:nvSpPr>
          <p:cNvPr id="3" name="Content Placeholder 2"/>
          <p:cNvSpPr>
            <a:spLocks noGrp="1"/>
          </p:cNvSpPr>
          <p:nvPr>
            <p:ph sz="half" idx="2"/>
          </p:nvPr>
        </p:nvSpPr>
        <p:spPr/>
        <p:txBody>
          <a:bodyPr/>
          <a:lstStyle/>
          <a:p>
            <a:endParaRPr dirty="0"/>
          </a:p>
        </p:txBody>
      </p:sp>
      <p:sp>
        <p:nvSpPr>
          <p:cNvPr id="4" name="TextBox 3"/>
          <p:cNvSpPr txBox="1"/>
          <p:nvPr/>
        </p:nvSpPr>
        <p:spPr>
          <a:xfrm>
            <a:off x="274320" y="1188720"/>
            <a:ext cx="8595360" cy="457200"/>
          </a:xfrm>
          <a:prstGeom prst="rect">
            <a:avLst/>
          </a:prstGeom>
          <a:noFill/>
        </p:spPr>
        <p:txBody>
          <a:bodyPr wrap="square" lIns="45720" tIns="18288" rIns="45720" bIns="18288" anchor="t">
            <a:spAutoFit/>
          </a:bodyPr>
          <a:lstStyle/>
          <a:p>
            <a:pPr algn="l"/>
            <a:r>
              <a:rPr sz="1400" b="0">
                <a:solidFill>
                  <a:srgbClr val="333333"/>
                </a:solidFill>
                <a:latin typeface="Calibri"/>
              </a:rPr>
              <a:t>We started with DiffusionAct (Bounareli et al., FG 2025), a controllable diffusion autoencoder for one-shot reenactment.</a:t>
            </a:r>
          </a:p>
        </p:txBody>
      </p:sp>
      <p:sp>
        <p:nvSpPr>
          <p:cNvPr id="5" name="TextBox 4"/>
          <p:cNvSpPr txBox="1"/>
          <p:nvPr/>
        </p:nvSpPr>
        <p:spPr>
          <a:xfrm>
            <a:off x="274320" y="1691640"/>
            <a:ext cx="8595360" cy="365760"/>
          </a:xfrm>
          <a:prstGeom prst="rect">
            <a:avLst/>
          </a:prstGeom>
          <a:noFill/>
        </p:spPr>
        <p:txBody>
          <a:bodyPr wrap="square" lIns="45720" tIns="18288" rIns="45720" bIns="18288" anchor="t">
            <a:spAutoFit/>
          </a:bodyPr>
          <a:lstStyle/>
          <a:p>
            <a:pPr algn="l"/>
            <a:r>
              <a:rPr sz="1400" b="1">
                <a:solidFill>
                  <a:srgbClr val="0F3F7A"/>
                </a:solidFill>
                <a:latin typeface="Calibri"/>
              </a:rPr>
              <a:t>Our two proposed improvements:</a:t>
            </a:r>
          </a:p>
        </p:txBody>
      </p:sp>
      <p:sp>
        <p:nvSpPr>
          <p:cNvPr id="6" name="TextBox 5"/>
          <p:cNvSpPr txBox="1"/>
          <p:nvPr/>
        </p:nvSpPr>
        <p:spPr>
          <a:xfrm>
            <a:off x="457200" y="2103120"/>
            <a:ext cx="8412480" cy="1280160"/>
          </a:xfrm>
          <a:prstGeom prst="rect">
            <a:avLst/>
          </a:prstGeom>
          <a:noFill/>
        </p:spPr>
        <p:txBody>
          <a:bodyPr wrap="square" lIns="45720" rIns="45720">
            <a:spAutoFit/>
          </a:bodyPr>
          <a:lstStyle/>
          <a:p>
            <a:pPr algn="l">
              <a:spcAft>
                <a:spcPts val="800"/>
              </a:spcAft>
            </a:pPr>
            <a:r>
              <a:rPr sz="1300">
                <a:solidFill>
                  <a:srgbClr val="333333"/>
                </a:solidFill>
                <a:latin typeface="Calibri"/>
              </a:rPr>
              <a:t>•  Identity-preserving DDIM prior — noised target frame instead of noised source (cuts identity leakage)</a:t>
            </a:r>
          </a:p>
          <a:p>
            <a:pPr algn="l">
              <a:spcAft>
                <a:spcPts val="800"/>
              </a:spcAft>
            </a:pPr>
            <a:r>
              <a:rPr sz="1300">
                <a:solidFill>
                  <a:srgbClr val="333333"/>
                </a:solidFill>
                <a:latin typeface="Calibri"/>
              </a:rPr>
              <a:t>•  Feature-space moving average on semantic codes — SMA (K = 12) and EMA (α = 0.7) on z_t (cuts jitter)</a:t>
            </a:r>
          </a:p>
        </p:txBody>
      </p:sp>
      <p:sp>
        <p:nvSpPr>
          <p:cNvPr id="7" name="TextBox 6"/>
          <p:cNvSpPr txBox="1"/>
          <p:nvPr/>
        </p:nvSpPr>
        <p:spPr>
          <a:xfrm>
            <a:off x="274320" y="2788920"/>
            <a:ext cx="4297680" cy="320040"/>
          </a:xfrm>
          <a:prstGeom prst="rect">
            <a:avLst/>
          </a:prstGeom>
          <a:noFill/>
        </p:spPr>
        <p:txBody>
          <a:bodyPr wrap="square" lIns="45720" tIns="18288" rIns="45720" bIns="18288" anchor="t">
            <a:spAutoFit/>
          </a:bodyPr>
          <a:lstStyle/>
          <a:p>
            <a:pPr algn="l"/>
            <a:r>
              <a:rPr sz="1200" b="1" dirty="0">
                <a:solidFill>
                  <a:srgbClr val="0F3F7A"/>
                </a:solidFill>
                <a:latin typeface="Calibri"/>
              </a:rPr>
              <a:t>Phase 1 pipeline (from our mid-eval poster):</a:t>
            </a:r>
          </a:p>
        </p:txBody>
      </p:sp>
      <p:sp>
        <p:nvSpPr>
          <p:cNvPr id="9" name="TextBox 8"/>
          <p:cNvSpPr txBox="1"/>
          <p:nvPr/>
        </p:nvSpPr>
        <p:spPr>
          <a:xfrm>
            <a:off x="4717718" y="2880476"/>
            <a:ext cx="4114800" cy="320040"/>
          </a:xfrm>
          <a:prstGeom prst="rect">
            <a:avLst/>
          </a:prstGeom>
          <a:noFill/>
        </p:spPr>
        <p:txBody>
          <a:bodyPr wrap="square" lIns="45720" tIns="18288" rIns="45720" bIns="18288" anchor="t">
            <a:spAutoFit/>
          </a:bodyPr>
          <a:lstStyle/>
          <a:p>
            <a:pPr algn="l"/>
            <a:r>
              <a:rPr sz="1200" b="1" dirty="0">
                <a:solidFill>
                  <a:srgbClr val="0F3F7A"/>
                </a:solidFill>
                <a:latin typeface="Calibri"/>
              </a:rPr>
              <a:t>Phase 1 fidelity metrics:</a:t>
            </a:r>
          </a:p>
        </p:txBody>
      </p:sp>
      <p:sp>
        <p:nvSpPr>
          <p:cNvPr id="10" name="Rectangle 9"/>
          <p:cNvSpPr/>
          <p:nvPr/>
        </p:nvSpPr>
        <p:spPr>
          <a:xfrm>
            <a:off x="4792277" y="3099816"/>
            <a:ext cx="1645920" cy="329184"/>
          </a:xfrm>
          <a:prstGeom prst="rect">
            <a:avLst/>
          </a:prstGeom>
          <a:solidFill>
            <a:srgbClr val="0F3F7A"/>
          </a:solidFill>
          <a:ln w="635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92277" y="3161738"/>
            <a:ext cx="1645920" cy="221599"/>
          </a:xfrm>
          <a:prstGeom prst="rect">
            <a:avLst/>
          </a:prstGeom>
          <a:noFill/>
        </p:spPr>
        <p:txBody>
          <a:bodyPr wrap="square" lIns="45720" tIns="18288" rIns="45720" bIns="18288" anchor="ctr">
            <a:spAutoFit/>
          </a:bodyPr>
          <a:lstStyle/>
          <a:p>
            <a:pPr algn="ctr"/>
            <a:r>
              <a:rPr sz="1200" b="1">
                <a:solidFill>
                  <a:srgbClr val="FFFFFF"/>
                </a:solidFill>
                <a:latin typeface="Calibri"/>
              </a:rPr>
              <a:t>Metric</a:t>
            </a:r>
          </a:p>
        </p:txBody>
      </p:sp>
      <p:sp>
        <p:nvSpPr>
          <p:cNvPr id="12" name="Rectangle 11"/>
          <p:cNvSpPr/>
          <p:nvPr/>
        </p:nvSpPr>
        <p:spPr>
          <a:xfrm>
            <a:off x="6438197" y="3099816"/>
            <a:ext cx="1188720" cy="329184"/>
          </a:xfrm>
          <a:prstGeom prst="rect">
            <a:avLst/>
          </a:prstGeom>
          <a:solidFill>
            <a:srgbClr val="0F3F7A"/>
          </a:solidFill>
          <a:ln w="635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38197" y="3161738"/>
            <a:ext cx="1188720" cy="221599"/>
          </a:xfrm>
          <a:prstGeom prst="rect">
            <a:avLst/>
          </a:prstGeom>
          <a:noFill/>
        </p:spPr>
        <p:txBody>
          <a:bodyPr wrap="square" lIns="45720" tIns="18288" rIns="45720" bIns="18288" anchor="ctr">
            <a:spAutoFit/>
          </a:bodyPr>
          <a:lstStyle/>
          <a:p>
            <a:pPr algn="ctr"/>
            <a:r>
              <a:rPr sz="1200" b="1">
                <a:solidFill>
                  <a:srgbClr val="FFFFFF"/>
                </a:solidFill>
                <a:latin typeface="Calibri"/>
              </a:rPr>
              <a:t>Baseline</a:t>
            </a:r>
          </a:p>
        </p:txBody>
      </p:sp>
      <p:sp>
        <p:nvSpPr>
          <p:cNvPr id="14" name="Rectangle 13"/>
          <p:cNvSpPr/>
          <p:nvPr/>
        </p:nvSpPr>
        <p:spPr>
          <a:xfrm>
            <a:off x="7626917" y="3099816"/>
            <a:ext cx="1280160" cy="329184"/>
          </a:xfrm>
          <a:prstGeom prst="rect">
            <a:avLst/>
          </a:prstGeom>
          <a:solidFill>
            <a:srgbClr val="0F3F7A"/>
          </a:solidFill>
          <a:ln w="635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26917" y="3161738"/>
            <a:ext cx="1280160" cy="221599"/>
          </a:xfrm>
          <a:prstGeom prst="rect">
            <a:avLst/>
          </a:prstGeom>
          <a:noFill/>
        </p:spPr>
        <p:txBody>
          <a:bodyPr wrap="square" lIns="45720" tIns="18288" rIns="45720" bIns="18288" anchor="ctr">
            <a:spAutoFit/>
          </a:bodyPr>
          <a:lstStyle/>
          <a:p>
            <a:pPr algn="ctr"/>
            <a:r>
              <a:rPr sz="1200" b="1">
                <a:solidFill>
                  <a:srgbClr val="FFFFFF"/>
                </a:solidFill>
                <a:latin typeface="Calibri"/>
              </a:rPr>
              <a:t>Ours (SMA)</a:t>
            </a:r>
          </a:p>
        </p:txBody>
      </p:sp>
      <p:sp>
        <p:nvSpPr>
          <p:cNvPr id="16" name="Rectangle 15"/>
          <p:cNvSpPr/>
          <p:nvPr/>
        </p:nvSpPr>
        <p:spPr>
          <a:xfrm>
            <a:off x="4792277" y="3429000"/>
            <a:ext cx="1645920" cy="329184"/>
          </a:xfrm>
          <a:prstGeom prst="rect">
            <a:avLst/>
          </a:prstGeom>
          <a:solidFill>
            <a:srgbClr val="FFFFFF"/>
          </a:solidFill>
          <a:ln w="635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792277" y="3490922"/>
            <a:ext cx="1645920" cy="221599"/>
          </a:xfrm>
          <a:prstGeom prst="rect">
            <a:avLst/>
          </a:prstGeom>
          <a:noFill/>
        </p:spPr>
        <p:txBody>
          <a:bodyPr wrap="square" lIns="45720" tIns="18288" rIns="45720" bIns="18288" anchor="ctr">
            <a:spAutoFit/>
          </a:bodyPr>
          <a:lstStyle/>
          <a:p>
            <a:pPr algn="ctr"/>
            <a:r>
              <a:rPr sz="1200" b="0">
                <a:solidFill>
                  <a:srgbClr val="333333"/>
                </a:solidFill>
                <a:latin typeface="Calibri"/>
              </a:rPr>
              <a:t>Expression MSE</a:t>
            </a:r>
          </a:p>
        </p:txBody>
      </p:sp>
      <p:sp>
        <p:nvSpPr>
          <p:cNvPr id="18" name="Rectangle 17"/>
          <p:cNvSpPr/>
          <p:nvPr/>
        </p:nvSpPr>
        <p:spPr>
          <a:xfrm>
            <a:off x="6438197" y="3429000"/>
            <a:ext cx="1188720" cy="329184"/>
          </a:xfrm>
          <a:prstGeom prst="rect">
            <a:avLst/>
          </a:prstGeom>
          <a:solidFill>
            <a:srgbClr val="FFFFFF"/>
          </a:solidFill>
          <a:ln w="635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38197" y="3490922"/>
            <a:ext cx="1188720" cy="221599"/>
          </a:xfrm>
          <a:prstGeom prst="rect">
            <a:avLst/>
          </a:prstGeom>
          <a:noFill/>
        </p:spPr>
        <p:txBody>
          <a:bodyPr wrap="square" lIns="45720" tIns="18288" rIns="45720" bIns="18288" anchor="ctr">
            <a:spAutoFit/>
          </a:bodyPr>
          <a:lstStyle/>
          <a:p>
            <a:pPr algn="ctr"/>
            <a:r>
              <a:rPr sz="1200" b="0">
                <a:solidFill>
                  <a:srgbClr val="333333"/>
                </a:solidFill>
                <a:latin typeface="Calibri"/>
              </a:rPr>
              <a:t>0.345</a:t>
            </a:r>
          </a:p>
        </p:txBody>
      </p:sp>
      <p:sp>
        <p:nvSpPr>
          <p:cNvPr id="20" name="Rectangle 19"/>
          <p:cNvSpPr/>
          <p:nvPr/>
        </p:nvSpPr>
        <p:spPr>
          <a:xfrm>
            <a:off x="7626917" y="3429000"/>
            <a:ext cx="1280160" cy="329184"/>
          </a:xfrm>
          <a:prstGeom prst="rect">
            <a:avLst/>
          </a:prstGeom>
          <a:solidFill>
            <a:srgbClr val="FFFFFF"/>
          </a:solidFill>
          <a:ln w="635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26917" y="3490922"/>
            <a:ext cx="1280160" cy="221599"/>
          </a:xfrm>
          <a:prstGeom prst="rect">
            <a:avLst/>
          </a:prstGeom>
          <a:noFill/>
        </p:spPr>
        <p:txBody>
          <a:bodyPr wrap="square" lIns="45720" tIns="18288" rIns="45720" bIns="18288" anchor="ctr">
            <a:spAutoFit/>
          </a:bodyPr>
          <a:lstStyle/>
          <a:p>
            <a:pPr algn="ctr"/>
            <a:r>
              <a:rPr sz="1200" b="0">
                <a:solidFill>
                  <a:srgbClr val="333333"/>
                </a:solidFill>
                <a:latin typeface="Calibri"/>
              </a:rPr>
              <a:t>0.371</a:t>
            </a:r>
          </a:p>
        </p:txBody>
      </p:sp>
      <p:sp>
        <p:nvSpPr>
          <p:cNvPr id="22" name="Rectangle 21"/>
          <p:cNvSpPr/>
          <p:nvPr/>
        </p:nvSpPr>
        <p:spPr>
          <a:xfrm>
            <a:off x="4792277" y="3758184"/>
            <a:ext cx="1645920" cy="329184"/>
          </a:xfrm>
          <a:prstGeom prst="rect">
            <a:avLst/>
          </a:prstGeom>
          <a:solidFill>
            <a:srgbClr val="E6ECF2"/>
          </a:solidFill>
          <a:ln w="635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792277" y="3820106"/>
            <a:ext cx="1645920" cy="221599"/>
          </a:xfrm>
          <a:prstGeom prst="rect">
            <a:avLst/>
          </a:prstGeom>
          <a:noFill/>
        </p:spPr>
        <p:txBody>
          <a:bodyPr wrap="square" lIns="45720" tIns="18288" rIns="45720" bIns="18288" anchor="ctr">
            <a:spAutoFit/>
          </a:bodyPr>
          <a:lstStyle/>
          <a:p>
            <a:pPr algn="ctr"/>
            <a:r>
              <a:rPr sz="1200" b="0">
                <a:solidFill>
                  <a:srgbClr val="333333"/>
                </a:solidFill>
                <a:latin typeface="Calibri"/>
              </a:rPr>
              <a:t>Pose MSE (×10⁻³)</a:t>
            </a:r>
          </a:p>
        </p:txBody>
      </p:sp>
      <p:sp>
        <p:nvSpPr>
          <p:cNvPr id="24" name="Rectangle 23"/>
          <p:cNvSpPr/>
          <p:nvPr/>
        </p:nvSpPr>
        <p:spPr>
          <a:xfrm>
            <a:off x="6438197" y="3758184"/>
            <a:ext cx="1188720" cy="329184"/>
          </a:xfrm>
          <a:prstGeom prst="rect">
            <a:avLst/>
          </a:prstGeom>
          <a:solidFill>
            <a:srgbClr val="E6ECF2"/>
          </a:solidFill>
          <a:ln w="635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38197" y="3820106"/>
            <a:ext cx="1188720" cy="221599"/>
          </a:xfrm>
          <a:prstGeom prst="rect">
            <a:avLst/>
          </a:prstGeom>
          <a:noFill/>
        </p:spPr>
        <p:txBody>
          <a:bodyPr wrap="square" lIns="45720" tIns="18288" rIns="45720" bIns="18288" anchor="ctr">
            <a:spAutoFit/>
          </a:bodyPr>
          <a:lstStyle/>
          <a:p>
            <a:pPr algn="ctr"/>
            <a:r>
              <a:rPr sz="1200" b="0">
                <a:solidFill>
                  <a:srgbClr val="333333"/>
                </a:solidFill>
                <a:latin typeface="Calibri"/>
              </a:rPr>
              <a:t>0.60</a:t>
            </a:r>
          </a:p>
        </p:txBody>
      </p:sp>
      <p:sp>
        <p:nvSpPr>
          <p:cNvPr id="26" name="Rectangle 25"/>
          <p:cNvSpPr/>
          <p:nvPr/>
        </p:nvSpPr>
        <p:spPr>
          <a:xfrm>
            <a:off x="7626917" y="3758184"/>
            <a:ext cx="1280160" cy="329184"/>
          </a:xfrm>
          <a:prstGeom prst="rect">
            <a:avLst/>
          </a:prstGeom>
          <a:solidFill>
            <a:srgbClr val="E6ECF2"/>
          </a:solidFill>
          <a:ln w="635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626917" y="3820106"/>
            <a:ext cx="1280160" cy="221599"/>
          </a:xfrm>
          <a:prstGeom prst="rect">
            <a:avLst/>
          </a:prstGeom>
          <a:noFill/>
        </p:spPr>
        <p:txBody>
          <a:bodyPr wrap="square" lIns="45720" tIns="18288" rIns="45720" bIns="18288" anchor="ctr">
            <a:spAutoFit/>
          </a:bodyPr>
          <a:lstStyle/>
          <a:p>
            <a:pPr algn="ctr"/>
            <a:r>
              <a:rPr sz="1200" b="0">
                <a:solidFill>
                  <a:srgbClr val="333333"/>
                </a:solidFill>
                <a:latin typeface="Calibri"/>
              </a:rPr>
              <a:t>0.37</a:t>
            </a:r>
          </a:p>
        </p:txBody>
      </p:sp>
      <p:sp>
        <p:nvSpPr>
          <p:cNvPr id="28" name="Rectangle 27"/>
          <p:cNvSpPr/>
          <p:nvPr/>
        </p:nvSpPr>
        <p:spPr>
          <a:xfrm>
            <a:off x="4792277" y="4087368"/>
            <a:ext cx="1645920" cy="329184"/>
          </a:xfrm>
          <a:prstGeom prst="rect">
            <a:avLst/>
          </a:prstGeom>
          <a:solidFill>
            <a:srgbClr val="FFFFFF"/>
          </a:solidFill>
          <a:ln w="635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792277" y="4149290"/>
            <a:ext cx="1645920" cy="221599"/>
          </a:xfrm>
          <a:prstGeom prst="rect">
            <a:avLst/>
          </a:prstGeom>
          <a:noFill/>
        </p:spPr>
        <p:txBody>
          <a:bodyPr wrap="square" lIns="45720" tIns="18288" rIns="45720" bIns="18288" anchor="ctr">
            <a:spAutoFit/>
          </a:bodyPr>
          <a:lstStyle/>
          <a:p>
            <a:pPr algn="ctr"/>
            <a:r>
              <a:rPr sz="1200" b="0">
                <a:solidFill>
                  <a:srgbClr val="333333"/>
                </a:solidFill>
                <a:latin typeface="Calibri"/>
              </a:rPr>
              <a:t>Identity Cosine</a:t>
            </a:r>
          </a:p>
        </p:txBody>
      </p:sp>
      <p:sp>
        <p:nvSpPr>
          <p:cNvPr id="30" name="Rectangle 29"/>
          <p:cNvSpPr/>
          <p:nvPr/>
        </p:nvSpPr>
        <p:spPr>
          <a:xfrm>
            <a:off x="6438197" y="4087368"/>
            <a:ext cx="1188720" cy="329184"/>
          </a:xfrm>
          <a:prstGeom prst="rect">
            <a:avLst/>
          </a:prstGeom>
          <a:solidFill>
            <a:srgbClr val="FFFFFF"/>
          </a:solidFill>
          <a:ln w="635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38197" y="4149290"/>
            <a:ext cx="1188720" cy="221599"/>
          </a:xfrm>
          <a:prstGeom prst="rect">
            <a:avLst/>
          </a:prstGeom>
          <a:noFill/>
        </p:spPr>
        <p:txBody>
          <a:bodyPr wrap="square" lIns="45720" tIns="18288" rIns="45720" bIns="18288" anchor="ctr">
            <a:spAutoFit/>
          </a:bodyPr>
          <a:lstStyle/>
          <a:p>
            <a:pPr algn="ctr"/>
            <a:r>
              <a:rPr sz="1200" b="0">
                <a:solidFill>
                  <a:srgbClr val="333333"/>
                </a:solidFill>
                <a:latin typeface="Calibri"/>
              </a:rPr>
              <a:t>0.84</a:t>
            </a:r>
          </a:p>
        </p:txBody>
      </p:sp>
      <p:sp>
        <p:nvSpPr>
          <p:cNvPr id="32" name="Rectangle 31"/>
          <p:cNvSpPr/>
          <p:nvPr/>
        </p:nvSpPr>
        <p:spPr>
          <a:xfrm>
            <a:off x="7626917" y="4087368"/>
            <a:ext cx="1280160" cy="329184"/>
          </a:xfrm>
          <a:prstGeom prst="rect">
            <a:avLst/>
          </a:prstGeom>
          <a:solidFill>
            <a:srgbClr val="FFFFFF"/>
          </a:solidFill>
          <a:ln w="635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626917" y="4149290"/>
            <a:ext cx="1280160" cy="221599"/>
          </a:xfrm>
          <a:prstGeom prst="rect">
            <a:avLst/>
          </a:prstGeom>
          <a:noFill/>
        </p:spPr>
        <p:txBody>
          <a:bodyPr wrap="square" lIns="45720" tIns="18288" rIns="45720" bIns="18288" anchor="ctr">
            <a:spAutoFit/>
          </a:bodyPr>
          <a:lstStyle/>
          <a:p>
            <a:pPr algn="ctr"/>
            <a:r>
              <a:rPr sz="1200" b="0">
                <a:solidFill>
                  <a:srgbClr val="333333"/>
                </a:solidFill>
                <a:latin typeface="Calibri"/>
              </a:rPr>
              <a:t>0.90</a:t>
            </a:r>
          </a:p>
        </p:txBody>
      </p:sp>
      <p:sp>
        <p:nvSpPr>
          <p:cNvPr id="34" name="Rectangle 33"/>
          <p:cNvSpPr/>
          <p:nvPr/>
        </p:nvSpPr>
        <p:spPr>
          <a:xfrm>
            <a:off x="4792277" y="4416552"/>
            <a:ext cx="1645920" cy="329184"/>
          </a:xfrm>
          <a:prstGeom prst="rect">
            <a:avLst/>
          </a:prstGeom>
          <a:solidFill>
            <a:srgbClr val="E6ECF2"/>
          </a:solidFill>
          <a:ln w="635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792277" y="4478474"/>
            <a:ext cx="1645920" cy="221599"/>
          </a:xfrm>
          <a:prstGeom prst="rect">
            <a:avLst/>
          </a:prstGeom>
          <a:noFill/>
        </p:spPr>
        <p:txBody>
          <a:bodyPr wrap="square" lIns="45720" tIns="18288" rIns="45720" bIns="18288" anchor="ctr">
            <a:spAutoFit/>
          </a:bodyPr>
          <a:lstStyle/>
          <a:p>
            <a:pPr algn="ctr"/>
            <a:r>
              <a:rPr sz="1200" b="0">
                <a:solidFill>
                  <a:srgbClr val="333333"/>
                </a:solidFill>
                <a:latin typeface="Calibri"/>
              </a:rPr>
              <a:t>Expr. TMSE (×10⁻¹)</a:t>
            </a:r>
          </a:p>
        </p:txBody>
      </p:sp>
      <p:sp>
        <p:nvSpPr>
          <p:cNvPr id="36" name="Rectangle 35"/>
          <p:cNvSpPr/>
          <p:nvPr/>
        </p:nvSpPr>
        <p:spPr>
          <a:xfrm>
            <a:off x="6438197" y="4416552"/>
            <a:ext cx="1188720" cy="329184"/>
          </a:xfrm>
          <a:prstGeom prst="rect">
            <a:avLst/>
          </a:prstGeom>
          <a:solidFill>
            <a:srgbClr val="E6ECF2"/>
          </a:solidFill>
          <a:ln w="635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38197" y="4478474"/>
            <a:ext cx="1188720" cy="221599"/>
          </a:xfrm>
          <a:prstGeom prst="rect">
            <a:avLst/>
          </a:prstGeom>
          <a:noFill/>
        </p:spPr>
        <p:txBody>
          <a:bodyPr wrap="square" lIns="45720" tIns="18288" rIns="45720" bIns="18288" anchor="ctr">
            <a:spAutoFit/>
          </a:bodyPr>
          <a:lstStyle/>
          <a:p>
            <a:pPr algn="ctr"/>
            <a:r>
              <a:rPr sz="1200" b="0" dirty="0">
                <a:solidFill>
                  <a:srgbClr val="333333"/>
                </a:solidFill>
                <a:latin typeface="Calibri"/>
              </a:rPr>
              <a:t>0.51</a:t>
            </a:r>
          </a:p>
        </p:txBody>
      </p:sp>
      <p:sp>
        <p:nvSpPr>
          <p:cNvPr id="38" name="Rectangle 37"/>
          <p:cNvSpPr/>
          <p:nvPr/>
        </p:nvSpPr>
        <p:spPr>
          <a:xfrm>
            <a:off x="7626917" y="4416552"/>
            <a:ext cx="1280160" cy="329184"/>
          </a:xfrm>
          <a:prstGeom prst="rect">
            <a:avLst/>
          </a:prstGeom>
          <a:solidFill>
            <a:srgbClr val="E6ECF2"/>
          </a:solidFill>
          <a:ln w="635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26917" y="4478474"/>
            <a:ext cx="1280160" cy="221599"/>
          </a:xfrm>
          <a:prstGeom prst="rect">
            <a:avLst/>
          </a:prstGeom>
          <a:noFill/>
        </p:spPr>
        <p:txBody>
          <a:bodyPr wrap="square" lIns="45720" tIns="18288" rIns="45720" bIns="18288" anchor="ctr">
            <a:spAutoFit/>
          </a:bodyPr>
          <a:lstStyle/>
          <a:p>
            <a:pPr algn="ctr"/>
            <a:r>
              <a:rPr sz="1200" b="0">
                <a:solidFill>
                  <a:srgbClr val="333333"/>
                </a:solidFill>
                <a:latin typeface="Calibri"/>
              </a:rPr>
              <a:t>0.31</a:t>
            </a:r>
          </a:p>
        </p:txBody>
      </p:sp>
      <p:sp>
        <p:nvSpPr>
          <p:cNvPr id="40" name="Rectangle 39"/>
          <p:cNvSpPr/>
          <p:nvPr/>
        </p:nvSpPr>
        <p:spPr>
          <a:xfrm>
            <a:off x="4792277" y="4745736"/>
            <a:ext cx="1645920" cy="329184"/>
          </a:xfrm>
          <a:prstGeom prst="rect">
            <a:avLst/>
          </a:prstGeom>
          <a:solidFill>
            <a:srgbClr val="FFFFFF"/>
          </a:solidFill>
          <a:ln w="635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792277" y="4807658"/>
            <a:ext cx="1645920" cy="221599"/>
          </a:xfrm>
          <a:prstGeom prst="rect">
            <a:avLst/>
          </a:prstGeom>
          <a:noFill/>
        </p:spPr>
        <p:txBody>
          <a:bodyPr wrap="square" lIns="45720" tIns="18288" rIns="45720" bIns="18288" anchor="ctr">
            <a:spAutoFit/>
          </a:bodyPr>
          <a:lstStyle/>
          <a:p>
            <a:pPr algn="ctr"/>
            <a:r>
              <a:rPr sz="1200" b="0">
                <a:solidFill>
                  <a:srgbClr val="333333"/>
                </a:solidFill>
                <a:latin typeface="Calibri"/>
              </a:rPr>
              <a:t>Pose TMSE (×10⁻⁴)</a:t>
            </a:r>
          </a:p>
        </p:txBody>
      </p:sp>
      <p:sp>
        <p:nvSpPr>
          <p:cNvPr id="42" name="Rectangle 41"/>
          <p:cNvSpPr/>
          <p:nvPr/>
        </p:nvSpPr>
        <p:spPr>
          <a:xfrm>
            <a:off x="6438197" y="4745736"/>
            <a:ext cx="1188720" cy="329184"/>
          </a:xfrm>
          <a:prstGeom prst="rect">
            <a:avLst/>
          </a:prstGeom>
          <a:solidFill>
            <a:srgbClr val="FFFFFF"/>
          </a:solidFill>
          <a:ln w="635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38197" y="4807658"/>
            <a:ext cx="1188720" cy="221599"/>
          </a:xfrm>
          <a:prstGeom prst="rect">
            <a:avLst/>
          </a:prstGeom>
          <a:noFill/>
        </p:spPr>
        <p:txBody>
          <a:bodyPr wrap="square" lIns="45720" tIns="18288" rIns="45720" bIns="18288" anchor="ctr">
            <a:spAutoFit/>
          </a:bodyPr>
          <a:lstStyle/>
          <a:p>
            <a:pPr algn="ctr"/>
            <a:r>
              <a:rPr sz="1200" b="0">
                <a:solidFill>
                  <a:srgbClr val="333333"/>
                </a:solidFill>
                <a:latin typeface="Calibri"/>
              </a:rPr>
              <a:t>0.554</a:t>
            </a:r>
          </a:p>
        </p:txBody>
      </p:sp>
      <p:sp>
        <p:nvSpPr>
          <p:cNvPr id="44" name="Rectangle 43"/>
          <p:cNvSpPr/>
          <p:nvPr/>
        </p:nvSpPr>
        <p:spPr>
          <a:xfrm>
            <a:off x="7626917" y="4745736"/>
            <a:ext cx="1280160" cy="329184"/>
          </a:xfrm>
          <a:prstGeom prst="rect">
            <a:avLst/>
          </a:prstGeom>
          <a:solidFill>
            <a:srgbClr val="FFFFFF"/>
          </a:solidFill>
          <a:ln w="635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626917" y="4807658"/>
            <a:ext cx="1280160" cy="221599"/>
          </a:xfrm>
          <a:prstGeom prst="rect">
            <a:avLst/>
          </a:prstGeom>
          <a:noFill/>
        </p:spPr>
        <p:txBody>
          <a:bodyPr wrap="square" lIns="45720" tIns="18288" rIns="45720" bIns="18288" anchor="ctr">
            <a:spAutoFit/>
          </a:bodyPr>
          <a:lstStyle/>
          <a:p>
            <a:pPr algn="ctr"/>
            <a:r>
              <a:rPr sz="1200" b="0">
                <a:solidFill>
                  <a:srgbClr val="333333"/>
                </a:solidFill>
                <a:latin typeface="Calibri"/>
              </a:rPr>
              <a:t>0.522</a:t>
            </a:r>
          </a:p>
        </p:txBody>
      </p:sp>
      <p:pic>
        <p:nvPicPr>
          <p:cNvPr id="50" name="Picture 49">
            <a:extLst>
              <a:ext uri="{FF2B5EF4-FFF2-40B4-BE49-F238E27FC236}">
                <a16:creationId xmlns:a16="http://schemas.microsoft.com/office/drawing/2014/main" id="{02057205-1DF9-0A4A-B0E3-F0A778A30912}"/>
              </a:ext>
            </a:extLst>
          </p:cNvPr>
          <p:cNvPicPr>
            <a:picLocks noChangeAspect="1"/>
          </p:cNvPicPr>
          <p:nvPr/>
        </p:nvPicPr>
        <p:blipFill>
          <a:blip r:embed="rId3"/>
          <a:srcRect l="3982" r="2673"/>
          <a:stretch>
            <a:fillRect/>
          </a:stretch>
        </p:blipFill>
        <p:spPr>
          <a:xfrm>
            <a:off x="124967" y="3108960"/>
            <a:ext cx="4555354" cy="2802016"/>
          </a:xfrm>
          <a:prstGeom prst="rect">
            <a:avLst/>
          </a:prstGeom>
        </p:spPr>
      </p:pic>
      <p:pic>
        <p:nvPicPr>
          <p:cNvPr id="52" name="Picture 51">
            <a:extLst>
              <a:ext uri="{FF2B5EF4-FFF2-40B4-BE49-F238E27FC236}">
                <a16:creationId xmlns:a16="http://schemas.microsoft.com/office/drawing/2014/main" id="{740C2F28-F693-7FD7-2C86-7DEBF175272A}"/>
              </a:ext>
            </a:extLst>
          </p:cNvPr>
          <p:cNvPicPr>
            <a:picLocks noChangeAspect="1"/>
          </p:cNvPicPr>
          <p:nvPr/>
        </p:nvPicPr>
        <p:blipFill>
          <a:blip r:embed="rId4"/>
          <a:stretch>
            <a:fillRect/>
          </a:stretch>
        </p:blipFill>
        <p:spPr>
          <a:xfrm>
            <a:off x="4736007" y="5166360"/>
            <a:ext cx="4132267" cy="12301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400" b="1">
                <a:solidFill>
                  <a:srgbClr val="0F3F7A"/>
                </a:solidFill>
                <a:latin typeface="Calibri"/>
              </a:rPr>
              <a:t>Five Experiments That Did Not Work</a:t>
            </a:r>
          </a:p>
        </p:txBody>
      </p:sp>
      <p:sp>
        <p:nvSpPr>
          <p:cNvPr id="3" name="Content Placeholder 2"/>
          <p:cNvSpPr>
            <a:spLocks noGrp="1"/>
          </p:cNvSpPr>
          <p:nvPr>
            <p:ph sz="half" idx="2"/>
          </p:nvPr>
        </p:nvSpPr>
        <p:spPr/>
        <p:txBody>
          <a:bodyPr/>
          <a:lstStyle/>
          <a:p>
            <a:endParaRPr/>
          </a:p>
        </p:txBody>
      </p:sp>
      <p:sp>
        <p:nvSpPr>
          <p:cNvPr id="4" name="TextBox 3"/>
          <p:cNvSpPr txBox="1"/>
          <p:nvPr/>
        </p:nvSpPr>
        <p:spPr>
          <a:xfrm>
            <a:off x="274320" y="1143000"/>
            <a:ext cx="8595360" cy="365760"/>
          </a:xfrm>
          <a:prstGeom prst="rect">
            <a:avLst/>
          </a:prstGeom>
          <a:noFill/>
        </p:spPr>
        <p:txBody>
          <a:bodyPr wrap="square" lIns="45720" tIns="18288" rIns="45720" bIns="18288" anchor="t">
            <a:spAutoFit/>
          </a:bodyPr>
          <a:lstStyle/>
          <a:p>
            <a:pPr algn="l"/>
            <a:r>
              <a:rPr sz="1400" b="0">
                <a:solidFill>
                  <a:srgbClr val="333333"/>
                </a:solidFill>
                <a:latin typeface="Calibri"/>
              </a:rPr>
              <a:t>Each failure narrowed down the real source of jitter in DiffusionAct.</a:t>
            </a:r>
          </a:p>
        </p:txBody>
      </p:sp>
      <p:sp>
        <p:nvSpPr>
          <p:cNvPr id="5" name="Rounded Rectangle 4"/>
          <p:cNvSpPr/>
          <p:nvPr/>
        </p:nvSpPr>
        <p:spPr>
          <a:xfrm>
            <a:off x="274320" y="1600200"/>
            <a:ext cx="4251960" cy="1417320"/>
          </a:xfrm>
          <a:prstGeom prst="round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1645920"/>
            <a:ext cx="4114800" cy="411480"/>
          </a:xfrm>
          <a:prstGeom prst="rect">
            <a:avLst/>
          </a:prstGeom>
          <a:noFill/>
        </p:spPr>
        <p:txBody>
          <a:bodyPr wrap="square" lIns="45720" tIns="18288" rIns="45720" bIns="18288" anchor="t">
            <a:spAutoFit/>
          </a:bodyPr>
          <a:lstStyle/>
          <a:p>
            <a:pPr algn="l"/>
            <a:r>
              <a:rPr sz="1300" b="1">
                <a:solidFill>
                  <a:srgbClr val="0F3F7A"/>
                </a:solidFill>
                <a:latin typeface="Calibri"/>
              </a:rPr>
              <a:t>1. Optical-flow loss in training</a:t>
            </a:r>
          </a:p>
        </p:txBody>
      </p:sp>
      <p:sp>
        <p:nvSpPr>
          <p:cNvPr id="7" name="TextBox 6"/>
          <p:cNvSpPr txBox="1"/>
          <p:nvPr/>
        </p:nvSpPr>
        <p:spPr>
          <a:xfrm>
            <a:off x="365760" y="2057400"/>
            <a:ext cx="4114800" cy="914400"/>
          </a:xfrm>
          <a:prstGeom prst="rect">
            <a:avLst/>
          </a:prstGeom>
          <a:noFill/>
        </p:spPr>
        <p:txBody>
          <a:bodyPr wrap="square" lIns="45720" tIns="18288" rIns="45720" bIns="18288" anchor="t">
            <a:spAutoFit/>
          </a:bodyPr>
          <a:lstStyle/>
          <a:p>
            <a:pPr algn="l"/>
            <a:r>
              <a:rPr sz="1100" b="0">
                <a:solidFill>
                  <a:srgbClr val="333333"/>
                </a:solidFill>
                <a:latin typeface="Calibri"/>
              </a:rPr>
              <a:t>Penalised frame-warp residuals. Training became unstable — model traded texture realism for flow coherence.</a:t>
            </a:r>
          </a:p>
        </p:txBody>
      </p:sp>
      <p:sp>
        <p:nvSpPr>
          <p:cNvPr id="8" name="Rounded Rectangle 7"/>
          <p:cNvSpPr/>
          <p:nvPr/>
        </p:nvSpPr>
        <p:spPr>
          <a:xfrm>
            <a:off x="4617720" y="1600200"/>
            <a:ext cx="4251960" cy="1417320"/>
          </a:xfrm>
          <a:prstGeom prst="round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09159" y="1645920"/>
            <a:ext cx="4114800" cy="411480"/>
          </a:xfrm>
          <a:prstGeom prst="rect">
            <a:avLst/>
          </a:prstGeom>
          <a:noFill/>
        </p:spPr>
        <p:txBody>
          <a:bodyPr wrap="square" lIns="45720" tIns="18288" rIns="45720" bIns="18288" anchor="t">
            <a:spAutoFit/>
          </a:bodyPr>
          <a:lstStyle/>
          <a:p>
            <a:pPr algn="l"/>
            <a:r>
              <a:rPr sz="1300" b="1">
                <a:solidFill>
                  <a:srgbClr val="0F3F7A"/>
                </a:solidFill>
                <a:latin typeface="Calibri"/>
              </a:rPr>
              <a:t>2. Retrieval-based target selection</a:t>
            </a:r>
          </a:p>
        </p:txBody>
      </p:sp>
      <p:sp>
        <p:nvSpPr>
          <p:cNvPr id="10" name="TextBox 9"/>
          <p:cNvSpPr txBox="1"/>
          <p:nvPr/>
        </p:nvSpPr>
        <p:spPr>
          <a:xfrm>
            <a:off x="4709159" y="2057400"/>
            <a:ext cx="4114800" cy="914400"/>
          </a:xfrm>
          <a:prstGeom prst="rect">
            <a:avLst/>
          </a:prstGeom>
          <a:noFill/>
        </p:spPr>
        <p:txBody>
          <a:bodyPr wrap="square" lIns="45720" tIns="18288" rIns="45720" bIns="18288" anchor="t">
            <a:spAutoFit/>
          </a:bodyPr>
          <a:lstStyle/>
          <a:p>
            <a:pPr algn="l"/>
            <a:r>
              <a:rPr sz="1100" b="0">
                <a:solidFill>
                  <a:srgbClr val="333333"/>
                </a:solidFill>
                <a:latin typeface="Calibri"/>
              </a:rPr>
              <a:t>Searched the target-identity DB for pose-matched frames per source frame. Per-frame quality up — sequence continuity down.</a:t>
            </a:r>
          </a:p>
        </p:txBody>
      </p:sp>
      <p:sp>
        <p:nvSpPr>
          <p:cNvPr id="11" name="Rounded Rectangle 10"/>
          <p:cNvSpPr/>
          <p:nvPr/>
        </p:nvSpPr>
        <p:spPr>
          <a:xfrm>
            <a:off x="274320" y="3154680"/>
            <a:ext cx="4251960" cy="1417320"/>
          </a:xfrm>
          <a:prstGeom prst="round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3200400"/>
            <a:ext cx="4114800" cy="411480"/>
          </a:xfrm>
          <a:prstGeom prst="rect">
            <a:avLst/>
          </a:prstGeom>
          <a:noFill/>
        </p:spPr>
        <p:txBody>
          <a:bodyPr wrap="square" lIns="45720" tIns="18288" rIns="45720" bIns="18288" anchor="t">
            <a:spAutoFit/>
          </a:bodyPr>
          <a:lstStyle/>
          <a:p>
            <a:pPr algn="l"/>
            <a:r>
              <a:rPr sz="1300" b="1">
                <a:solidFill>
                  <a:srgbClr val="0F3F7A"/>
                </a:solidFill>
                <a:latin typeface="Calibri"/>
              </a:rPr>
              <a:t>3. One-Euro filter on landmarks</a:t>
            </a:r>
          </a:p>
        </p:txBody>
      </p:sp>
      <p:sp>
        <p:nvSpPr>
          <p:cNvPr id="13" name="TextBox 12"/>
          <p:cNvSpPr txBox="1"/>
          <p:nvPr/>
        </p:nvSpPr>
        <p:spPr>
          <a:xfrm>
            <a:off x="365760" y="3611880"/>
            <a:ext cx="4114800" cy="914400"/>
          </a:xfrm>
          <a:prstGeom prst="rect">
            <a:avLst/>
          </a:prstGeom>
          <a:noFill/>
        </p:spPr>
        <p:txBody>
          <a:bodyPr wrap="square" lIns="45720" tIns="18288" rIns="45720" bIns="18288" anchor="t">
            <a:spAutoFit/>
          </a:bodyPr>
          <a:lstStyle/>
          <a:p>
            <a:pPr algn="l"/>
            <a:r>
              <a:rPr sz="1100" b="0">
                <a:solidFill>
                  <a:srgbClr val="333333"/>
                </a:solidFill>
                <a:latin typeface="Calibri"/>
              </a:rPr>
              <a:t>Smoothed input bounding boxes and landmarks. Crops became smoother, output still flickered → jitter is not input noise.</a:t>
            </a:r>
          </a:p>
        </p:txBody>
      </p:sp>
      <p:sp>
        <p:nvSpPr>
          <p:cNvPr id="14" name="Rounded Rectangle 13"/>
          <p:cNvSpPr/>
          <p:nvPr/>
        </p:nvSpPr>
        <p:spPr>
          <a:xfrm>
            <a:off x="4617720" y="3154680"/>
            <a:ext cx="4251960" cy="1417320"/>
          </a:xfrm>
          <a:prstGeom prst="round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09159" y="3200400"/>
            <a:ext cx="4114800" cy="411480"/>
          </a:xfrm>
          <a:prstGeom prst="rect">
            <a:avLst/>
          </a:prstGeom>
          <a:noFill/>
        </p:spPr>
        <p:txBody>
          <a:bodyPr wrap="square" lIns="45720" tIns="18288" rIns="45720" bIns="18288" anchor="t">
            <a:spAutoFit/>
          </a:bodyPr>
          <a:lstStyle/>
          <a:p>
            <a:pPr algn="l"/>
            <a:r>
              <a:rPr sz="1300" b="1">
                <a:solidFill>
                  <a:srgbClr val="0F3F7A"/>
                </a:solidFill>
                <a:latin typeface="Calibri"/>
              </a:rPr>
              <a:t>4. Alignment rotation smoothing</a:t>
            </a:r>
          </a:p>
        </p:txBody>
      </p:sp>
      <p:sp>
        <p:nvSpPr>
          <p:cNvPr id="16" name="TextBox 15"/>
          <p:cNvSpPr txBox="1"/>
          <p:nvPr/>
        </p:nvSpPr>
        <p:spPr>
          <a:xfrm>
            <a:off x="4709159" y="3611880"/>
            <a:ext cx="4114800" cy="914400"/>
          </a:xfrm>
          <a:prstGeom prst="rect">
            <a:avLst/>
          </a:prstGeom>
          <a:noFill/>
        </p:spPr>
        <p:txBody>
          <a:bodyPr wrap="square" lIns="45720" tIns="18288" rIns="45720" bIns="18288" anchor="t">
            <a:spAutoFit/>
          </a:bodyPr>
          <a:lstStyle/>
          <a:p>
            <a:pPr algn="l"/>
            <a:r>
              <a:rPr sz="1100" b="0">
                <a:solidFill>
                  <a:srgbClr val="333333"/>
                </a:solidFill>
                <a:latin typeface="Calibri"/>
              </a:rPr>
              <a:t>Smoothed the per-frame eye-alignment rotation. The model 'corrected' the smoothed input and produced eye distortions.</a:t>
            </a:r>
          </a:p>
        </p:txBody>
      </p:sp>
      <p:sp>
        <p:nvSpPr>
          <p:cNvPr id="17" name="Rounded Rectangle 16"/>
          <p:cNvSpPr/>
          <p:nvPr/>
        </p:nvSpPr>
        <p:spPr>
          <a:xfrm>
            <a:off x="274320" y="4709160"/>
            <a:ext cx="4251960" cy="1417320"/>
          </a:xfrm>
          <a:prstGeom prst="round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754880"/>
            <a:ext cx="4114800" cy="411480"/>
          </a:xfrm>
          <a:prstGeom prst="rect">
            <a:avLst/>
          </a:prstGeom>
          <a:noFill/>
        </p:spPr>
        <p:txBody>
          <a:bodyPr wrap="square" lIns="45720" tIns="18288" rIns="45720" bIns="18288" anchor="t">
            <a:spAutoFit/>
          </a:bodyPr>
          <a:lstStyle/>
          <a:p>
            <a:pPr algn="l"/>
            <a:r>
              <a:rPr sz="1300" b="1">
                <a:solidFill>
                  <a:srgbClr val="0F3F7A"/>
                </a:solidFill>
                <a:latin typeface="Calibri"/>
              </a:rPr>
              <a:t>5. Static-video sanity check</a:t>
            </a:r>
          </a:p>
        </p:txBody>
      </p:sp>
      <p:sp>
        <p:nvSpPr>
          <p:cNvPr id="19" name="TextBox 18"/>
          <p:cNvSpPr txBox="1"/>
          <p:nvPr/>
        </p:nvSpPr>
        <p:spPr>
          <a:xfrm>
            <a:off x="365760" y="5166360"/>
            <a:ext cx="4114800" cy="914400"/>
          </a:xfrm>
          <a:prstGeom prst="rect">
            <a:avLst/>
          </a:prstGeom>
          <a:noFill/>
        </p:spPr>
        <p:txBody>
          <a:bodyPr wrap="square" lIns="45720" tIns="18288" rIns="45720" bIns="18288" anchor="t">
            <a:spAutoFit/>
          </a:bodyPr>
          <a:lstStyle/>
          <a:p>
            <a:pPr algn="l"/>
            <a:r>
              <a:rPr sz="1100" b="0" dirty="0">
                <a:solidFill>
                  <a:srgbClr val="333333"/>
                </a:solidFill>
                <a:latin typeface="Calibri"/>
              </a:rPr>
              <a:t>Reenacted the same image looped at 25 fps. The output still jittered — jitter is intrinsic to diffusion sampling itself.</a:t>
            </a:r>
          </a:p>
        </p:txBody>
      </p:sp>
      <p:sp>
        <p:nvSpPr>
          <p:cNvPr id="20" name="Rounded Rectangle 19"/>
          <p:cNvSpPr/>
          <p:nvPr/>
        </p:nvSpPr>
        <p:spPr>
          <a:xfrm>
            <a:off x="4617720" y="4709160"/>
            <a:ext cx="4251960" cy="141732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09160" y="4754880"/>
            <a:ext cx="4069080" cy="411480"/>
          </a:xfrm>
          <a:prstGeom prst="rect">
            <a:avLst/>
          </a:prstGeom>
          <a:noFill/>
        </p:spPr>
        <p:txBody>
          <a:bodyPr wrap="square" lIns="45720" tIns="18288" rIns="45720" bIns="18288" anchor="t">
            <a:spAutoFit/>
          </a:bodyPr>
          <a:lstStyle/>
          <a:p>
            <a:pPr algn="l"/>
            <a:r>
              <a:rPr sz="1300" b="1">
                <a:solidFill>
                  <a:srgbClr val="FFFFFF"/>
                </a:solidFill>
                <a:latin typeface="Calibri"/>
              </a:rPr>
              <a:t>Key Insight</a:t>
            </a:r>
          </a:p>
        </p:txBody>
      </p:sp>
      <p:sp>
        <p:nvSpPr>
          <p:cNvPr id="22" name="TextBox 21"/>
          <p:cNvSpPr txBox="1"/>
          <p:nvPr/>
        </p:nvSpPr>
        <p:spPr>
          <a:xfrm>
            <a:off x="4709160" y="5166360"/>
            <a:ext cx="4069080" cy="914400"/>
          </a:xfrm>
          <a:prstGeom prst="rect">
            <a:avLst/>
          </a:prstGeom>
          <a:noFill/>
        </p:spPr>
        <p:txBody>
          <a:bodyPr wrap="square" lIns="45720" tIns="18288" rIns="45720" bIns="18288" anchor="t">
            <a:spAutoFit/>
          </a:bodyPr>
          <a:lstStyle/>
          <a:p>
            <a:pPr algn="l"/>
            <a:r>
              <a:rPr sz="1200" b="0">
                <a:solidFill>
                  <a:srgbClr val="FFFFFF"/>
                </a:solidFill>
                <a:latin typeface="Calibri"/>
              </a:rPr>
              <a:t>Stochastic diffusion sampling injects variation even when the input is constant. Smoothing is a band-aid. A different model family is needed.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400" b="1">
                <a:solidFill>
                  <a:srgbClr val="0F3F7A"/>
                </a:solidFill>
                <a:latin typeface="Calibri"/>
              </a:rPr>
              <a:t>Diffusion (then) vs LivePortrait (now)</a:t>
            </a:r>
          </a:p>
        </p:txBody>
      </p:sp>
      <p:sp>
        <p:nvSpPr>
          <p:cNvPr id="3" name="Text Placeholder 2"/>
          <p:cNvSpPr>
            <a:spLocks noGrp="1"/>
          </p:cNvSpPr>
          <p:nvPr>
            <p:ph type="body" idx="1"/>
          </p:nvPr>
        </p:nvSpPr>
        <p:spPr/>
        <p:txBody>
          <a:bodyPr/>
          <a:lstStyle/>
          <a:p>
            <a:pPr algn="ctr"/>
            <a:r>
              <a:rPr sz="2000" b="1">
                <a:solidFill>
                  <a:srgbClr val="0F3F7A"/>
                </a:solidFill>
                <a:latin typeface="Calibri"/>
              </a:rPr>
              <a:t>DiffusionAct</a:t>
            </a:r>
          </a:p>
        </p:txBody>
      </p:sp>
      <p:sp>
        <p:nvSpPr>
          <p:cNvPr id="4" name="Content Placeholder 3"/>
          <p:cNvSpPr>
            <a:spLocks noGrp="1"/>
          </p:cNvSpPr>
          <p:nvPr>
            <p:ph sz="half" idx="2"/>
          </p:nvPr>
        </p:nvSpPr>
        <p:spPr>
          <a:xfrm>
            <a:off x="581870" y="1935994"/>
            <a:ext cx="4288604" cy="2175186"/>
          </a:xfrm>
        </p:spPr>
        <p:txBody>
          <a:bodyPr wrap="square"/>
          <a:lstStyle/>
          <a:p>
            <a:pPr marL="0" indent="0" algn="l">
              <a:spcAft>
                <a:spcPts val="800"/>
              </a:spcAft>
              <a:buNone/>
            </a:pPr>
            <a:r>
              <a:rPr sz="1400" dirty="0">
                <a:solidFill>
                  <a:srgbClr val="333333"/>
                </a:solidFill>
                <a:latin typeface="Calibri"/>
              </a:rPr>
              <a:t>•  Diffusion autoencoder, stochastic sampling</a:t>
            </a:r>
          </a:p>
          <a:p>
            <a:pPr marL="0" indent="0" algn="l">
              <a:spcAft>
                <a:spcPts val="800"/>
              </a:spcAft>
              <a:buNone/>
            </a:pPr>
            <a:r>
              <a:rPr sz="1400" dirty="0">
                <a:solidFill>
                  <a:srgbClr val="333333"/>
                </a:solidFill>
                <a:latin typeface="Calibri"/>
              </a:rPr>
              <a:t>•  High single-frame fidelity</a:t>
            </a:r>
          </a:p>
          <a:p>
            <a:pPr marL="0" indent="0" algn="l">
              <a:spcAft>
                <a:spcPts val="800"/>
              </a:spcAft>
              <a:buNone/>
            </a:pPr>
            <a:r>
              <a:rPr sz="1400" dirty="0">
                <a:solidFill>
                  <a:srgbClr val="333333"/>
                </a:solidFill>
                <a:latin typeface="Calibri"/>
              </a:rPr>
              <a:t>•  Identity leakage in cross-reenactment</a:t>
            </a:r>
          </a:p>
          <a:p>
            <a:pPr marL="0" indent="0" algn="l">
              <a:spcAft>
                <a:spcPts val="800"/>
              </a:spcAft>
              <a:buNone/>
            </a:pPr>
            <a:r>
              <a:rPr sz="1400" dirty="0">
                <a:solidFill>
                  <a:srgbClr val="333333"/>
                </a:solidFill>
                <a:latin typeface="Calibri"/>
              </a:rPr>
              <a:t>•  Persistent texture flicker across frames</a:t>
            </a:r>
          </a:p>
          <a:p>
            <a:pPr marL="0" indent="0" algn="l">
              <a:spcAft>
                <a:spcPts val="800"/>
              </a:spcAft>
              <a:buNone/>
            </a:pPr>
            <a:r>
              <a:rPr sz="1400" dirty="0">
                <a:solidFill>
                  <a:srgbClr val="333333"/>
                </a:solidFill>
                <a:latin typeface="Calibri"/>
              </a:rPr>
              <a:t>•  Slow inference (~seconds / frame)</a:t>
            </a:r>
          </a:p>
          <a:p>
            <a:pPr marL="0" indent="0" algn="l">
              <a:spcAft>
                <a:spcPts val="800"/>
              </a:spcAft>
              <a:buNone/>
            </a:pPr>
            <a:r>
              <a:rPr sz="1400" dirty="0">
                <a:solidFill>
                  <a:srgbClr val="333333"/>
                </a:solidFill>
                <a:latin typeface="Calibri"/>
              </a:rPr>
              <a:t>•  Heavy compute footprint</a:t>
            </a:r>
          </a:p>
        </p:txBody>
      </p:sp>
      <p:sp>
        <p:nvSpPr>
          <p:cNvPr id="5" name="Text Placeholder 4"/>
          <p:cNvSpPr>
            <a:spLocks noGrp="1"/>
          </p:cNvSpPr>
          <p:nvPr>
            <p:ph type="body" sz="quarter" idx="3"/>
          </p:nvPr>
        </p:nvSpPr>
        <p:spPr/>
        <p:txBody>
          <a:bodyPr/>
          <a:lstStyle/>
          <a:p>
            <a:pPr algn="ctr"/>
            <a:r>
              <a:rPr sz="2000" b="1">
                <a:solidFill>
                  <a:srgbClr val="16A34A"/>
                </a:solidFill>
                <a:latin typeface="Calibri"/>
              </a:rPr>
              <a:t>LivePortrait</a:t>
            </a:r>
          </a:p>
        </p:txBody>
      </p:sp>
      <p:sp>
        <p:nvSpPr>
          <p:cNvPr id="6" name="Content Placeholder 5"/>
          <p:cNvSpPr>
            <a:spLocks noGrp="1"/>
          </p:cNvSpPr>
          <p:nvPr>
            <p:ph sz="quarter" idx="4"/>
          </p:nvPr>
        </p:nvSpPr>
        <p:spPr>
          <a:xfrm>
            <a:off x="4572000" y="1935994"/>
            <a:ext cx="4192654" cy="2175186"/>
          </a:xfrm>
        </p:spPr>
        <p:txBody>
          <a:bodyPr wrap="square"/>
          <a:lstStyle/>
          <a:p>
            <a:pPr marL="0" indent="0" algn="l">
              <a:spcAft>
                <a:spcPts val="800"/>
              </a:spcAft>
              <a:buNone/>
            </a:pPr>
            <a:r>
              <a:rPr sz="1400" dirty="0">
                <a:solidFill>
                  <a:srgbClr val="333333"/>
                </a:solidFill>
                <a:latin typeface="Calibri"/>
              </a:rPr>
              <a:t>•  Implicit-</a:t>
            </a:r>
            <a:r>
              <a:rPr sz="1400" dirty="0" err="1">
                <a:solidFill>
                  <a:srgbClr val="333333"/>
                </a:solidFill>
                <a:latin typeface="Calibri"/>
              </a:rPr>
              <a:t>keypoint</a:t>
            </a:r>
            <a:r>
              <a:rPr lang="en-IN" sz="1400" dirty="0">
                <a:solidFill>
                  <a:srgbClr val="333333"/>
                </a:solidFill>
                <a:latin typeface="Calibri"/>
              </a:rPr>
              <a:t>s</a:t>
            </a:r>
            <a:r>
              <a:rPr sz="1400" dirty="0">
                <a:solidFill>
                  <a:srgbClr val="333333"/>
                </a:solidFill>
                <a:latin typeface="Calibri"/>
              </a:rPr>
              <a:t> GAN, deterministic</a:t>
            </a:r>
          </a:p>
          <a:p>
            <a:pPr marL="0" indent="0" algn="l">
              <a:spcAft>
                <a:spcPts val="800"/>
              </a:spcAft>
              <a:buNone/>
            </a:pPr>
            <a:r>
              <a:rPr sz="1400" dirty="0">
                <a:solidFill>
                  <a:srgbClr val="333333"/>
                </a:solidFill>
                <a:latin typeface="Calibri"/>
              </a:rPr>
              <a:t>•  Built-in stitching + eye/lip retargeting</a:t>
            </a:r>
            <a:r>
              <a:rPr lang="en-IN" sz="1400" dirty="0">
                <a:solidFill>
                  <a:srgbClr val="333333"/>
                </a:solidFill>
                <a:latin typeface="Calibri"/>
              </a:rPr>
              <a:t> ( we do not use this in our case)</a:t>
            </a:r>
            <a:endParaRPr sz="1400" dirty="0">
              <a:solidFill>
                <a:srgbClr val="333333"/>
              </a:solidFill>
              <a:latin typeface="Calibri"/>
            </a:endParaRPr>
          </a:p>
          <a:p>
            <a:pPr marL="0" indent="0" algn="l">
              <a:spcAft>
                <a:spcPts val="800"/>
              </a:spcAft>
              <a:buNone/>
            </a:pPr>
            <a:r>
              <a:rPr sz="1400" dirty="0">
                <a:solidFill>
                  <a:srgbClr val="333333"/>
                </a:solidFill>
                <a:latin typeface="Calibri"/>
              </a:rPr>
              <a:t>•  Negligible flicker on long sequences</a:t>
            </a:r>
          </a:p>
          <a:p>
            <a:pPr marL="0" indent="0" algn="l">
              <a:spcAft>
                <a:spcPts val="800"/>
              </a:spcAft>
              <a:buNone/>
            </a:pPr>
            <a:r>
              <a:rPr sz="1400" dirty="0">
                <a:solidFill>
                  <a:srgbClr val="333333"/>
                </a:solidFill>
                <a:latin typeface="Calibri"/>
              </a:rPr>
              <a:t>•  12.8 </a:t>
            </a:r>
            <a:r>
              <a:rPr sz="1400" dirty="0" err="1">
                <a:solidFill>
                  <a:srgbClr val="333333"/>
                </a:solidFill>
                <a:latin typeface="Calibri"/>
              </a:rPr>
              <a:t>ms</a:t>
            </a:r>
            <a:r>
              <a:rPr sz="1400" dirty="0">
                <a:solidFill>
                  <a:srgbClr val="333333"/>
                </a:solidFill>
                <a:latin typeface="Calibri"/>
              </a:rPr>
              <a:t>/frame on RTX 4090; runs on consumer-grade hardware</a:t>
            </a:r>
          </a:p>
          <a:p>
            <a:pPr marL="0" indent="0" algn="l">
              <a:spcAft>
                <a:spcPts val="800"/>
              </a:spcAft>
              <a:buNone/>
            </a:pPr>
            <a:r>
              <a:rPr sz="1400" dirty="0">
                <a:solidFill>
                  <a:srgbClr val="333333"/>
                </a:solidFill>
                <a:latin typeface="Calibri"/>
              </a:rPr>
              <a:t>•  Lightweight enough for our prototype</a:t>
            </a:r>
          </a:p>
        </p:txBody>
      </p:sp>
      <p:pic>
        <p:nvPicPr>
          <p:cNvPr id="7" name="WhatsApp Video 2026-05-21 at 10.10.45 AM">
            <a:hlinkClick r:id="" action="ppaction://media"/>
            <a:extLst>
              <a:ext uri="{FF2B5EF4-FFF2-40B4-BE49-F238E27FC236}">
                <a16:creationId xmlns:a16="http://schemas.microsoft.com/office/drawing/2014/main" id="{FD215E1D-EE2E-8C17-9F1A-87BE697ABF67}"/>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494565" y="4641330"/>
            <a:ext cx="1731261" cy="1731261"/>
          </a:xfrm>
          <a:prstGeom prst="rect">
            <a:avLst/>
          </a:prstGeom>
        </p:spPr>
      </p:pic>
      <p:pic>
        <p:nvPicPr>
          <p:cNvPr id="9" name="barath_reenact">
            <a:hlinkClick r:id="" action="ppaction://media"/>
            <a:extLst>
              <a:ext uri="{FF2B5EF4-FFF2-40B4-BE49-F238E27FC236}">
                <a16:creationId xmlns:a16="http://schemas.microsoft.com/office/drawing/2014/main" id="{AD2BC887-9DFB-D0A6-F331-6A382AB25983}"/>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5889933" y="4644108"/>
            <a:ext cx="1731261" cy="1753147"/>
          </a:xfrm>
          <a:prstGeom prst="rect">
            <a:avLst/>
          </a:prstGeom>
        </p:spPr>
      </p:pic>
      <p:sp>
        <p:nvSpPr>
          <p:cNvPr id="10" name="TextBox 9">
            <a:extLst>
              <a:ext uri="{FF2B5EF4-FFF2-40B4-BE49-F238E27FC236}">
                <a16:creationId xmlns:a16="http://schemas.microsoft.com/office/drawing/2014/main" id="{BF3F96A9-F35E-74FD-D5DA-F67A80EF8071}"/>
              </a:ext>
            </a:extLst>
          </p:cNvPr>
          <p:cNvSpPr txBox="1"/>
          <p:nvPr/>
        </p:nvSpPr>
        <p:spPr>
          <a:xfrm>
            <a:off x="1369341" y="4329667"/>
            <a:ext cx="2078167" cy="338554"/>
          </a:xfrm>
          <a:prstGeom prst="rect">
            <a:avLst/>
          </a:prstGeom>
          <a:noFill/>
        </p:spPr>
        <p:txBody>
          <a:bodyPr wrap="square" rtlCol="0">
            <a:spAutoFit/>
          </a:bodyPr>
          <a:lstStyle/>
          <a:p>
            <a:r>
              <a:rPr lang="en-IN" sz="1600" dirty="0"/>
              <a:t>Cross reenact- </a:t>
            </a:r>
            <a:r>
              <a:rPr lang="en-IN" sz="1600" dirty="0" err="1"/>
              <a:t>DiffAct</a:t>
            </a:r>
            <a:endParaRPr lang="en-IN" sz="1600" dirty="0"/>
          </a:p>
        </p:txBody>
      </p:sp>
      <p:sp>
        <p:nvSpPr>
          <p:cNvPr id="11" name="TextBox 10">
            <a:extLst>
              <a:ext uri="{FF2B5EF4-FFF2-40B4-BE49-F238E27FC236}">
                <a16:creationId xmlns:a16="http://schemas.microsoft.com/office/drawing/2014/main" id="{3DB9EBD1-4212-DD83-BC4C-50F1600CD010}"/>
              </a:ext>
            </a:extLst>
          </p:cNvPr>
          <p:cNvSpPr txBox="1"/>
          <p:nvPr/>
        </p:nvSpPr>
        <p:spPr>
          <a:xfrm>
            <a:off x="5733815" y="4329667"/>
            <a:ext cx="2250672" cy="338554"/>
          </a:xfrm>
          <a:prstGeom prst="rect">
            <a:avLst/>
          </a:prstGeom>
          <a:noFill/>
        </p:spPr>
        <p:txBody>
          <a:bodyPr wrap="square" rtlCol="0">
            <a:spAutoFit/>
          </a:bodyPr>
          <a:lstStyle/>
          <a:p>
            <a:r>
              <a:rPr lang="en-IN" sz="1600" dirty="0"/>
              <a:t>Cross reenact- </a:t>
            </a:r>
            <a:r>
              <a:rPr lang="en-IN" sz="1600" dirty="0" err="1"/>
              <a:t>LivePort</a:t>
            </a:r>
            <a:endParaRPr lang="en-IN"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223" fill="hold"/>
                                        <p:tgtEl>
                                          <p:spTgt spid="7"/>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800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7"/>
                </p:tgtEl>
              </p:cMediaNode>
            </p:video>
            <p:seq concurrent="1" nextAc="seek">
              <p:cTn id="12" restart="whenNotActive" fill="hold" evtFilter="cancelBubble" nodeType="interactiveSeq">
                <p:stCondLst>
                  <p:cond evt="onClick" delay="0">
                    <p:tgtEl>
                      <p:spTgt spid="7"/>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7"/>
                                        </p:tgtEl>
                                      </p:cBhvr>
                                    </p:cmd>
                                  </p:childTnLst>
                                </p:cTn>
                              </p:par>
                            </p:childTnLst>
                          </p:cTn>
                        </p:par>
                      </p:childTnLst>
                    </p:cTn>
                  </p:par>
                </p:childTnLst>
              </p:cTn>
              <p:nextCondLst>
                <p:cond evt="onClick" delay="0">
                  <p:tgtEl>
                    <p:spTgt spid="7"/>
                  </p:tgtEl>
                </p:cond>
              </p:nextCondLst>
            </p:seq>
            <p:video>
              <p:cMediaNode vol="80000">
                <p:cTn id="17" fill="hold" display="0">
                  <p:stCondLst>
                    <p:cond delay="indefinite"/>
                  </p:stCondLst>
                </p:cTn>
                <p:tgtEl>
                  <p:spTgt spid="9"/>
                </p:tgtEl>
              </p:cMediaNode>
            </p:video>
            <p:seq concurrent="1" nextAc="seek">
              <p:cTn id="18" restart="whenNotActive" fill="hold" evtFilter="cancelBubble" nodeType="interactiveSeq">
                <p:stCondLst>
                  <p:cond evt="onClick" delay="0">
                    <p:tgtEl>
                      <p:spTgt spid="9"/>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377951"/>
            <a:ext cx="8595360" cy="548640"/>
          </a:xfrm>
          <a:prstGeom prst="rect">
            <a:avLst/>
          </a:prstGeom>
          <a:noFill/>
        </p:spPr>
        <p:txBody>
          <a:bodyPr wrap="square" lIns="45720" tIns="18288" rIns="45720" bIns="18288" anchor="t">
            <a:spAutoFit/>
          </a:bodyPr>
          <a:lstStyle/>
          <a:p>
            <a:pPr algn="l"/>
            <a:r>
              <a:rPr sz="2400" b="1" dirty="0" err="1">
                <a:solidFill>
                  <a:srgbClr val="0F3F7A"/>
                </a:solidFill>
                <a:latin typeface="Calibri"/>
              </a:rPr>
              <a:t>LivePortrait</a:t>
            </a:r>
            <a:r>
              <a:rPr sz="2400" b="1" dirty="0">
                <a:solidFill>
                  <a:srgbClr val="0F3F7A"/>
                </a:solidFill>
                <a:latin typeface="Calibri"/>
              </a:rPr>
              <a:t> — Model Architecture</a:t>
            </a:r>
          </a:p>
        </p:txBody>
      </p:sp>
      <p:sp>
        <p:nvSpPr>
          <p:cNvPr id="5" name="Rounded Rectangle 4"/>
          <p:cNvSpPr/>
          <p:nvPr/>
        </p:nvSpPr>
        <p:spPr>
          <a:xfrm>
            <a:off x="274320" y="1417320"/>
            <a:ext cx="1188720" cy="594360"/>
          </a:xfrm>
          <a:prstGeom prst="roundRect">
            <a:avLst/>
          </a:prstGeom>
          <a:solidFill>
            <a:srgbClr val="0F3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1417320"/>
            <a:ext cx="1188720" cy="594360"/>
          </a:xfrm>
          <a:prstGeom prst="rect">
            <a:avLst/>
          </a:prstGeom>
          <a:noFill/>
        </p:spPr>
        <p:txBody>
          <a:bodyPr wrap="square" lIns="45720" tIns="18288" rIns="45720" bIns="18288" anchor="ctr">
            <a:spAutoFit/>
          </a:bodyPr>
          <a:lstStyle/>
          <a:p>
            <a:pPr algn="ctr"/>
            <a:r>
              <a:rPr sz="1200" b="1">
                <a:solidFill>
                  <a:srgbClr val="FFFFFF"/>
                </a:solidFill>
                <a:latin typeface="Calibri"/>
              </a:rPr>
              <a:t>Source
Image</a:t>
            </a:r>
          </a:p>
        </p:txBody>
      </p:sp>
      <p:cxnSp>
        <p:nvCxnSpPr>
          <p:cNvPr id="7" name="Connector 6"/>
          <p:cNvCxnSpPr/>
          <p:nvPr/>
        </p:nvCxnSpPr>
        <p:spPr>
          <a:xfrm>
            <a:off x="1463040" y="1714500"/>
            <a:ext cx="228600" cy="0"/>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691640" y="1417320"/>
            <a:ext cx="1325880" cy="594360"/>
          </a:xfrm>
          <a:prstGeom prst="roundRect">
            <a:avLst/>
          </a:prstGeom>
          <a:solidFill>
            <a:srgbClr val="1E6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91640" y="1417320"/>
            <a:ext cx="1325880" cy="594360"/>
          </a:xfrm>
          <a:prstGeom prst="rect">
            <a:avLst/>
          </a:prstGeom>
          <a:noFill/>
        </p:spPr>
        <p:txBody>
          <a:bodyPr wrap="square" lIns="45720" tIns="18288" rIns="45720" bIns="18288" anchor="ctr">
            <a:spAutoFit/>
          </a:bodyPr>
          <a:lstStyle/>
          <a:p>
            <a:pPr algn="ctr"/>
            <a:r>
              <a:rPr sz="1200" b="1">
                <a:solidFill>
                  <a:srgbClr val="FFFFFF"/>
                </a:solidFill>
                <a:latin typeface="Calibri"/>
              </a:rPr>
              <a:t>Appearance
Extractor  F</a:t>
            </a:r>
          </a:p>
        </p:txBody>
      </p:sp>
      <p:cxnSp>
        <p:nvCxnSpPr>
          <p:cNvPr id="10" name="Connector 9"/>
          <p:cNvCxnSpPr/>
          <p:nvPr/>
        </p:nvCxnSpPr>
        <p:spPr>
          <a:xfrm>
            <a:off x="3017520" y="1714500"/>
            <a:ext cx="228600" cy="0"/>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246120" y="1417320"/>
            <a:ext cx="1051560" cy="594360"/>
          </a:xfrm>
          <a:prstGeom prst="round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46120" y="1417320"/>
            <a:ext cx="1051560" cy="594360"/>
          </a:xfrm>
          <a:prstGeom prst="rect">
            <a:avLst/>
          </a:prstGeom>
          <a:noFill/>
        </p:spPr>
        <p:txBody>
          <a:bodyPr wrap="square" lIns="45720" tIns="18288" rIns="45720" bIns="18288" anchor="ctr">
            <a:spAutoFit/>
          </a:bodyPr>
          <a:lstStyle/>
          <a:p>
            <a:pPr algn="ctr"/>
            <a:r>
              <a:rPr sz="1200" b="1">
                <a:solidFill>
                  <a:srgbClr val="333333"/>
                </a:solidFill>
                <a:latin typeface="Calibri"/>
              </a:rPr>
              <a:t>F_s
(3-D feat.)</a:t>
            </a:r>
          </a:p>
        </p:txBody>
      </p:sp>
      <p:sp>
        <p:nvSpPr>
          <p:cNvPr id="13" name="Rounded Rectangle 12"/>
          <p:cNvSpPr/>
          <p:nvPr/>
        </p:nvSpPr>
        <p:spPr>
          <a:xfrm>
            <a:off x="274320" y="2286000"/>
            <a:ext cx="1188720" cy="594360"/>
          </a:xfrm>
          <a:prstGeom prst="roundRect">
            <a:avLst/>
          </a:prstGeom>
          <a:solidFill>
            <a:srgbClr val="0F3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4320" y="2286000"/>
            <a:ext cx="1188720" cy="594360"/>
          </a:xfrm>
          <a:prstGeom prst="rect">
            <a:avLst/>
          </a:prstGeom>
          <a:noFill/>
        </p:spPr>
        <p:txBody>
          <a:bodyPr wrap="square" lIns="45720" tIns="18288" rIns="45720" bIns="18288" anchor="ctr">
            <a:spAutoFit/>
          </a:bodyPr>
          <a:lstStyle/>
          <a:p>
            <a:pPr algn="ctr"/>
            <a:r>
              <a:rPr sz="1200" b="1">
                <a:solidFill>
                  <a:srgbClr val="FFFFFF"/>
                </a:solidFill>
                <a:latin typeface="Calibri"/>
              </a:rPr>
              <a:t>Source +
Driving</a:t>
            </a:r>
          </a:p>
        </p:txBody>
      </p:sp>
      <p:cxnSp>
        <p:nvCxnSpPr>
          <p:cNvPr id="15" name="Connector 14"/>
          <p:cNvCxnSpPr/>
          <p:nvPr/>
        </p:nvCxnSpPr>
        <p:spPr>
          <a:xfrm>
            <a:off x="1463040" y="2583180"/>
            <a:ext cx="228600" cy="0"/>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691640" y="2286000"/>
            <a:ext cx="1325880" cy="594360"/>
          </a:xfrm>
          <a:prstGeom prst="roundRect">
            <a:avLst/>
          </a:prstGeom>
          <a:solidFill>
            <a:srgbClr val="1E6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691640" y="2286000"/>
            <a:ext cx="1325880" cy="594360"/>
          </a:xfrm>
          <a:prstGeom prst="rect">
            <a:avLst/>
          </a:prstGeom>
          <a:noFill/>
        </p:spPr>
        <p:txBody>
          <a:bodyPr wrap="square" lIns="45720" tIns="18288" rIns="45720" bIns="18288" anchor="ctr">
            <a:spAutoFit/>
          </a:bodyPr>
          <a:lstStyle/>
          <a:p>
            <a:pPr algn="ctr"/>
            <a:r>
              <a:rPr sz="1200" b="1">
                <a:solidFill>
                  <a:srgbClr val="FFFFFF"/>
                </a:solidFill>
                <a:latin typeface="Calibri"/>
              </a:rPr>
              <a:t>Motion
Extractor  M</a:t>
            </a:r>
          </a:p>
        </p:txBody>
      </p:sp>
      <p:cxnSp>
        <p:nvCxnSpPr>
          <p:cNvPr id="18" name="Connector 17"/>
          <p:cNvCxnSpPr/>
          <p:nvPr/>
        </p:nvCxnSpPr>
        <p:spPr>
          <a:xfrm>
            <a:off x="3017520" y="2583180"/>
            <a:ext cx="228600" cy="0"/>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246120" y="2286000"/>
            <a:ext cx="1051560" cy="594360"/>
          </a:xfrm>
          <a:prstGeom prst="round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46120" y="2286000"/>
            <a:ext cx="1051560" cy="594360"/>
          </a:xfrm>
          <a:prstGeom prst="rect">
            <a:avLst/>
          </a:prstGeom>
          <a:noFill/>
        </p:spPr>
        <p:txBody>
          <a:bodyPr wrap="square" lIns="45720" tIns="18288" rIns="45720" bIns="18288" anchor="ctr">
            <a:spAutoFit/>
          </a:bodyPr>
          <a:lstStyle/>
          <a:p>
            <a:pPr algn="ctr"/>
            <a:r>
              <a:rPr sz="1200" b="1" dirty="0" err="1">
                <a:solidFill>
                  <a:srgbClr val="333333"/>
                </a:solidFill>
                <a:latin typeface="Calibri"/>
              </a:rPr>
              <a:t>kp</a:t>
            </a:r>
            <a:r>
              <a:rPr sz="1200" b="1" dirty="0">
                <a:solidFill>
                  <a:srgbClr val="333333"/>
                </a:solidFill>
                <a:latin typeface="Calibri"/>
              </a:rPr>
              <a:t>, R, t, s,
expression δ</a:t>
            </a:r>
          </a:p>
        </p:txBody>
      </p:sp>
      <p:cxnSp>
        <p:nvCxnSpPr>
          <p:cNvPr id="21" name="Connector 20"/>
          <p:cNvCxnSpPr>
            <a:cxnSpLocks/>
          </p:cNvCxnSpPr>
          <p:nvPr/>
        </p:nvCxnSpPr>
        <p:spPr>
          <a:xfrm>
            <a:off x="4297680" y="1719072"/>
            <a:ext cx="1354836" cy="292608"/>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622036" y="1874519"/>
            <a:ext cx="1051560" cy="502920"/>
          </a:xfrm>
          <a:prstGeom prst="roundRect">
            <a:avLst/>
          </a:prstGeom>
          <a:solidFill>
            <a:srgbClr val="0F3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52516" y="1897380"/>
            <a:ext cx="1051560" cy="502920"/>
          </a:xfrm>
          <a:prstGeom prst="rect">
            <a:avLst/>
          </a:prstGeom>
          <a:noFill/>
        </p:spPr>
        <p:txBody>
          <a:bodyPr wrap="square" lIns="45720" tIns="18288" rIns="45720" bIns="18288" anchor="ctr">
            <a:spAutoFit/>
          </a:bodyPr>
          <a:lstStyle/>
          <a:p>
            <a:pPr algn="ctr"/>
            <a:r>
              <a:rPr sz="1200" b="1">
                <a:solidFill>
                  <a:srgbClr val="FFFFFF"/>
                </a:solidFill>
                <a:latin typeface="Calibri"/>
              </a:rPr>
              <a:t>Warping W</a:t>
            </a:r>
          </a:p>
        </p:txBody>
      </p:sp>
      <p:cxnSp>
        <p:nvCxnSpPr>
          <p:cNvPr id="25" name="Connector 24"/>
          <p:cNvCxnSpPr/>
          <p:nvPr/>
        </p:nvCxnSpPr>
        <p:spPr>
          <a:xfrm>
            <a:off x="6673596" y="2125979"/>
            <a:ext cx="137160" cy="0"/>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816852" y="1874519"/>
            <a:ext cx="960120" cy="502920"/>
          </a:xfrm>
          <a:prstGeom prst="roundRect">
            <a:avLst/>
          </a:prstGeom>
          <a:solidFill>
            <a:srgbClr val="0F3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16852" y="1874519"/>
            <a:ext cx="960120" cy="502920"/>
          </a:xfrm>
          <a:prstGeom prst="rect">
            <a:avLst/>
          </a:prstGeom>
          <a:noFill/>
        </p:spPr>
        <p:txBody>
          <a:bodyPr wrap="square" lIns="45720" tIns="18288" rIns="45720" bIns="18288" anchor="ctr">
            <a:spAutoFit/>
          </a:bodyPr>
          <a:lstStyle/>
          <a:p>
            <a:pPr algn="ctr"/>
            <a:r>
              <a:rPr sz="1200" b="1" dirty="0">
                <a:solidFill>
                  <a:srgbClr val="FFFFFF"/>
                </a:solidFill>
                <a:latin typeface="Calibri"/>
              </a:rPr>
              <a:t>Decoder G</a:t>
            </a:r>
          </a:p>
        </p:txBody>
      </p:sp>
      <p:cxnSp>
        <p:nvCxnSpPr>
          <p:cNvPr id="28" name="Connector 27"/>
          <p:cNvCxnSpPr/>
          <p:nvPr/>
        </p:nvCxnSpPr>
        <p:spPr>
          <a:xfrm>
            <a:off x="7789164" y="2125979"/>
            <a:ext cx="137160" cy="0"/>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584192" y="2319528"/>
            <a:ext cx="815340" cy="50292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8096" y="2460188"/>
            <a:ext cx="815340" cy="221599"/>
          </a:xfrm>
          <a:prstGeom prst="rect">
            <a:avLst/>
          </a:prstGeom>
          <a:noFill/>
        </p:spPr>
        <p:txBody>
          <a:bodyPr wrap="square" lIns="45720" tIns="18288" rIns="45720" bIns="18288" anchor="ctr">
            <a:spAutoFit/>
          </a:bodyPr>
          <a:lstStyle/>
          <a:p>
            <a:pPr algn="ctr"/>
            <a:r>
              <a:rPr sz="1200" b="1" dirty="0">
                <a:solidFill>
                  <a:srgbClr val="FFFFFF"/>
                </a:solidFill>
                <a:latin typeface="Calibri"/>
              </a:rPr>
              <a:t>Stitching</a:t>
            </a:r>
          </a:p>
        </p:txBody>
      </p:sp>
      <p:sp>
        <p:nvSpPr>
          <p:cNvPr id="32" name="Rounded Rectangle 31"/>
          <p:cNvSpPr/>
          <p:nvPr/>
        </p:nvSpPr>
        <p:spPr>
          <a:xfrm>
            <a:off x="7909560" y="1874519"/>
            <a:ext cx="960120" cy="50292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909560" y="1874519"/>
            <a:ext cx="960120" cy="502920"/>
          </a:xfrm>
          <a:prstGeom prst="rect">
            <a:avLst/>
          </a:prstGeom>
          <a:noFill/>
        </p:spPr>
        <p:txBody>
          <a:bodyPr wrap="square" lIns="45720" tIns="18288" rIns="45720" bIns="18288" anchor="ctr">
            <a:spAutoFit/>
          </a:bodyPr>
          <a:lstStyle/>
          <a:p>
            <a:pPr algn="ctr"/>
            <a:r>
              <a:rPr sz="1200" b="1">
                <a:solidFill>
                  <a:srgbClr val="FFFFFF"/>
                </a:solidFill>
                <a:latin typeface="Calibri"/>
              </a:rPr>
              <a:t>Final Frame</a:t>
            </a:r>
          </a:p>
        </p:txBody>
      </p:sp>
      <p:sp>
        <p:nvSpPr>
          <p:cNvPr id="35" name="Rounded Rectangle 34"/>
          <p:cNvSpPr/>
          <p:nvPr/>
        </p:nvSpPr>
        <p:spPr>
          <a:xfrm>
            <a:off x="274320" y="3855726"/>
            <a:ext cx="8595360" cy="1097280"/>
          </a:xfrm>
          <a:prstGeom prst="round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7200" y="3919734"/>
            <a:ext cx="8229600" cy="347472"/>
          </a:xfrm>
          <a:prstGeom prst="rect">
            <a:avLst/>
          </a:prstGeom>
          <a:noFill/>
        </p:spPr>
        <p:txBody>
          <a:bodyPr wrap="square" lIns="45720" tIns="18288" rIns="45720" bIns="18288" anchor="t">
            <a:spAutoFit/>
          </a:bodyPr>
          <a:lstStyle/>
          <a:p>
            <a:pPr algn="l"/>
            <a:r>
              <a:rPr sz="1300" b="1">
                <a:solidFill>
                  <a:srgbClr val="0F3F7A"/>
                </a:solidFill>
                <a:latin typeface="Calibri"/>
              </a:rPr>
              <a:t>The four base modules + two heads:</a:t>
            </a:r>
          </a:p>
        </p:txBody>
      </p:sp>
      <p:sp>
        <p:nvSpPr>
          <p:cNvPr id="37" name="TextBox 36"/>
          <p:cNvSpPr txBox="1"/>
          <p:nvPr/>
        </p:nvSpPr>
        <p:spPr>
          <a:xfrm>
            <a:off x="457200" y="4267206"/>
            <a:ext cx="4114800" cy="640080"/>
          </a:xfrm>
          <a:prstGeom prst="rect">
            <a:avLst/>
          </a:prstGeom>
          <a:noFill/>
        </p:spPr>
        <p:txBody>
          <a:bodyPr wrap="square" lIns="45720" tIns="18288" rIns="45720" bIns="18288" anchor="t">
            <a:spAutoFit/>
          </a:bodyPr>
          <a:lstStyle/>
          <a:p>
            <a:pPr algn="l"/>
            <a:r>
              <a:rPr sz="1200" b="0">
                <a:solidFill>
                  <a:srgbClr val="333333"/>
                </a:solidFill>
                <a:latin typeface="Calibri"/>
              </a:rPr>
              <a:t>• F extracts 3-D appearance features
• M extracts implicit motion parameters</a:t>
            </a:r>
          </a:p>
        </p:txBody>
      </p:sp>
      <p:sp>
        <p:nvSpPr>
          <p:cNvPr id="38" name="TextBox 37"/>
          <p:cNvSpPr txBox="1"/>
          <p:nvPr/>
        </p:nvSpPr>
        <p:spPr>
          <a:xfrm>
            <a:off x="4617720" y="4267206"/>
            <a:ext cx="4160520" cy="590931"/>
          </a:xfrm>
          <a:prstGeom prst="rect">
            <a:avLst/>
          </a:prstGeom>
          <a:noFill/>
        </p:spPr>
        <p:txBody>
          <a:bodyPr wrap="square" lIns="45720" tIns="18288" rIns="45720" bIns="18288" anchor="t">
            <a:spAutoFit/>
          </a:bodyPr>
          <a:lstStyle/>
          <a:p>
            <a:pPr algn="l"/>
            <a:r>
              <a:rPr sz="1200" b="0" dirty="0">
                <a:solidFill>
                  <a:srgbClr val="333333"/>
                </a:solidFill>
                <a:latin typeface="Calibri"/>
              </a:rPr>
              <a:t>• W warps F_s by the motion, G decodes
• Stitching </a:t>
            </a:r>
            <a:r>
              <a:rPr lang="en-IN" sz="1200" dirty="0">
                <a:solidFill>
                  <a:srgbClr val="333333"/>
                </a:solidFill>
                <a:latin typeface="Calibri"/>
              </a:rPr>
              <a:t>changes the motion embedding of driving video to better align with </a:t>
            </a:r>
            <a:r>
              <a:rPr lang="en-IN" sz="1200" dirty="0" err="1">
                <a:solidFill>
                  <a:srgbClr val="333333"/>
                </a:solidFill>
                <a:latin typeface="Calibri"/>
              </a:rPr>
              <a:t>keypoints</a:t>
            </a:r>
            <a:r>
              <a:rPr lang="en-IN" sz="1200" dirty="0">
                <a:solidFill>
                  <a:srgbClr val="333333"/>
                </a:solidFill>
                <a:latin typeface="Calibri"/>
              </a:rPr>
              <a:t> of source image.</a:t>
            </a:r>
            <a:endParaRPr sz="1200" b="0" dirty="0">
              <a:solidFill>
                <a:srgbClr val="333333"/>
              </a:solidFill>
              <a:latin typeface="Calibri"/>
            </a:endParaRPr>
          </a:p>
        </p:txBody>
      </p:sp>
      <p:cxnSp>
        <p:nvCxnSpPr>
          <p:cNvPr id="55" name="Connector 17">
            <a:extLst>
              <a:ext uri="{FF2B5EF4-FFF2-40B4-BE49-F238E27FC236}">
                <a16:creationId xmlns:a16="http://schemas.microsoft.com/office/drawing/2014/main" id="{39D608B8-E3D1-A558-CA18-A8D1F987EBF5}"/>
              </a:ext>
            </a:extLst>
          </p:cNvPr>
          <p:cNvCxnSpPr/>
          <p:nvPr/>
        </p:nvCxnSpPr>
        <p:spPr>
          <a:xfrm>
            <a:off x="4343400" y="2583180"/>
            <a:ext cx="228600" cy="0"/>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Connector 20">
            <a:extLst>
              <a:ext uri="{FF2B5EF4-FFF2-40B4-BE49-F238E27FC236}">
                <a16:creationId xmlns:a16="http://schemas.microsoft.com/office/drawing/2014/main" id="{867D2B09-6E97-95DB-DCC2-CAE45B71E577}"/>
              </a:ext>
            </a:extLst>
          </p:cNvPr>
          <p:cNvCxnSpPr>
            <a:cxnSpLocks/>
            <a:stCxn id="30" idx="3"/>
            <a:endCxn id="23" idx="1"/>
          </p:cNvCxnSpPr>
          <p:nvPr/>
        </p:nvCxnSpPr>
        <p:spPr>
          <a:xfrm flipV="1">
            <a:off x="5393436" y="2125979"/>
            <a:ext cx="228600" cy="445009"/>
          </a:xfrm>
          <a:prstGeom prst="bentConnector3">
            <a:avLst>
              <a:gd name="adj1" fmla="val 50000"/>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Rounded Rectangle 18">
            <a:extLst>
              <a:ext uri="{FF2B5EF4-FFF2-40B4-BE49-F238E27FC236}">
                <a16:creationId xmlns:a16="http://schemas.microsoft.com/office/drawing/2014/main" id="{8F1F27A9-498A-F5B3-16A6-9C0DB1270B56}"/>
              </a:ext>
            </a:extLst>
          </p:cNvPr>
          <p:cNvSpPr/>
          <p:nvPr/>
        </p:nvSpPr>
        <p:spPr>
          <a:xfrm>
            <a:off x="3253740" y="3025140"/>
            <a:ext cx="1051560" cy="594360"/>
          </a:xfrm>
          <a:prstGeom prst="round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extLst>
              <a:ext uri="{FF2B5EF4-FFF2-40B4-BE49-F238E27FC236}">
                <a16:creationId xmlns:a16="http://schemas.microsoft.com/office/drawing/2014/main" id="{BFF2182C-D36E-CCC1-A13D-E47515234D01}"/>
              </a:ext>
            </a:extLst>
          </p:cNvPr>
          <p:cNvSpPr txBox="1"/>
          <p:nvPr/>
        </p:nvSpPr>
        <p:spPr>
          <a:xfrm>
            <a:off x="3253740" y="3211520"/>
            <a:ext cx="1051560" cy="221599"/>
          </a:xfrm>
          <a:prstGeom prst="rect">
            <a:avLst/>
          </a:prstGeom>
          <a:noFill/>
        </p:spPr>
        <p:txBody>
          <a:bodyPr wrap="square" lIns="45720" tIns="18288" rIns="45720" bIns="18288" anchor="ctr">
            <a:spAutoFit/>
          </a:bodyPr>
          <a:lstStyle/>
          <a:p>
            <a:pPr algn="ctr"/>
            <a:r>
              <a:rPr sz="1200" b="1" dirty="0" err="1">
                <a:solidFill>
                  <a:srgbClr val="333333"/>
                </a:solidFill>
                <a:latin typeface="Calibri"/>
              </a:rPr>
              <a:t>kp</a:t>
            </a:r>
            <a:r>
              <a:rPr sz="1200" b="1" dirty="0">
                <a:solidFill>
                  <a:srgbClr val="333333"/>
                </a:solidFill>
                <a:latin typeface="Calibri"/>
              </a:rPr>
              <a:t>, R, t, s</a:t>
            </a:r>
          </a:p>
        </p:txBody>
      </p:sp>
      <p:cxnSp>
        <p:nvCxnSpPr>
          <p:cNvPr id="69" name="Connector 17">
            <a:extLst>
              <a:ext uri="{FF2B5EF4-FFF2-40B4-BE49-F238E27FC236}">
                <a16:creationId xmlns:a16="http://schemas.microsoft.com/office/drawing/2014/main" id="{9BC8EA39-C222-8758-8EFE-8B25FF41F028}"/>
              </a:ext>
            </a:extLst>
          </p:cNvPr>
          <p:cNvCxnSpPr>
            <a:cxnSpLocks/>
            <a:stCxn id="63" idx="3"/>
            <a:endCxn id="29" idx="2"/>
          </p:cNvCxnSpPr>
          <p:nvPr/>
        </p:nvCxnSpPr>
        <p:spPr>
          <a:xfrm flipV="1">
            <a:off x="4305300" y="2822448"/>
            <a:ext cx="686562" cy="499872"/>
          </a:xfrm>
          <a:prstGeom prst="bentConnector2">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Rounded Rectangle 12">
            <a:extLst>
              <a:ext uri="{FF2B5EF4-FFF2-40B4-BE49-F238E27FC236}">
                <a16:creationId xmlns:a16="http://schemas.microsoft.com/office/drawing/2014/main" id="{DB5E9612-4D64-DAF2-C77A-43CA2DD0C559}"/>
              </a:ext>
            </a:extLst>
          </p:cNvPr>
          <p:cNvSpPr/>
          <p:nvPr/>
        </p:nvSpPr>
        <p:spPr>
          <a:xfrm>
            <a:off x="251460" y="2290572"/>
            <a:ext cx="1188720" cy="594360"/>
          </a:xfrm>
          <a:prstGeom prst="roundRect">
            <a:avLst/>
          </a:prstGeom>
          <a:solidFill>
            <a:srgbClr val="0F3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a:extLst>
              <a:ext uri="{FF2B5EF4-FFF2-40B4-BE49-F238E27FC236}">
                <a16:creationId xmlns:a16="http://schemas.microsoft.com/office/drawing/2014/main" id="{D527431C-C128-4728-578D-A4290FE8A226}"/>
              </a:ext>
            </a:extLst>
          </p:cNvPr>
          <p:cNvSpPr txBox="1"/>
          <p:nvPr/>
        </p:nvSpPr>
        <p:spPr>
          <a:xfrm>
            <a:off x="228600" y="2376999"/>
            <a:ext cx="1188720" cy="406265"/>
          </a:xfrm>
          <a:prstGeom prst="rect">
            <a:avLst/>
          </a:prstGeom>
          <a:noFill/>
        </p:spPr>
        <p:txBody>
          <a:bodyPr wrap="square" lIns="45720" tIns="18288" rIns="45720" bIns="18288" anchor="ctr">
            <a:spAutoFit/>
          </a:bodyPr>
          <a:lstStyle/>
          <a:p>
            <a:pPr algn="ctr"/>
            <a:r>
              <a:rPr sz="1200" b="1" dirty="0">
                <a:solidFill>
                  <a:srgbClr val="FFFFFF"/>
                </a:solidFill>
                <a:latin typeface="Calibri"/>
              </a:rPr>
              <a:t>
Driving</a:t>
            </a:r>
            <a:r>
              <a:rPr lang="en-IN" sz="1200" b="1" dirty="0">
                <a:solidFill>
                  <a:srgbClr val="FFFFFF"/>
                </a:solidFill>
                <a:latin typeface="Calibri"/>
              </a:rPr>
              <a:t> Video</a:t>
            </a:r>
            <a:endParaRPr sz="1200" b="1" dirty="0">
              <a:solidFill>
                <a:srgbClr val="FFFFFF"/>
              </a:solidFill>
              <a:latin typeface="Calibri"/>
            </a:endParaRPr>
          </a:p>
        </p:txBody>
      </p:sp>
      <p:sp>
        <p:nvSpPr>
          <p:cNvPr id="76" name="Rounded Rectangle 12">
            <a:extLst>
              <a:ext uri="{FF2B5EF4-FFF2-40B4-BE49-F238E27FC236}">
                <a16:creationId xmlns:a16="http://schemas.microsoft.com/office/drawing/2014/main" id="{3B2A8872-C1B6-8958-6CC9-7F63E83E218C}"/>
              </a:ext>
            </a:extLst>
          </p:cNvPr>
          <p:cNvSpPr/>
          <p:nvPr/>
        </p:nvSpPr>
        <p:spPr>
          <a:xfrm>
            <a:off x="236220" y="3035049"/>
            <a:ext cx="1188720" cy="594360"/>
          </a:xfrm>
          <a:prstGeom prst="roundRect">
            <a:avLst/>
          </a:prstGeom>
          <a:solidFill>
            <a:srgbClr val="0F3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EA979565-4169-8A4E-DACB-47FAD2E2A421}"/>
              </a:ext>
            </a:extLst>
          </p:cNvPr>
          <p:cNvSpPr txBox="1"/>
          <p:nvPr/>
        </p:nvSpPr>
        <p:spPr>
          <a:xfrm>
            <a:off x="236220" y="3035049"/>
            <a:ext cx="1188720" cy="594360"/>
          </a:xfrm>
          <a:prstGeom prst="rect">
            <a:avLst/>
          </a:prstGeom>
          <a:noFill/>
        </p:spPr>
        <p:txBody>
          <a:bodyPr wrap="square" lIns="45720" tIns="18288" rIns="45720" bIns="18288" anchor="ctr">
            <a:spAutoFit/>
          </a:bodyPr>
          <a:lstStyle/>
          <a:p>
            <a:pPr algn="ctr"/>
            <a:r>
              <a:rPr sz="1200" b="1">
                <a:solidFill>
                  <a:srgbClr val="FFFFFF"/>
                </a:solidFill>
                <a:latin typeface="Calibri"/>
              </a:rPr>
              <a:t>Source +
Driving</a:t>
            </a:r>
          </a:p>
        </p:txBody>
      </p:sp>
      <p:sp>
        <p:nvSpPr>
          <p:cNvPr id="78" name="Rounded Rectangle 12">
            <a:extLst>
              <a:ext uri="{FF2B5EF4-FFF2-40B4-BE49-F238E27FC236}">
                <a16:creationId xmlns:a16="http://schemas.microsoft.com/office/drawing/2014/main" id="{899B5F27-3AB1-9197-C353-B08501287490}"/>
              </a:ext>
            </a:extLst>
          </p:cNvPr>
          <p:cNvSpPr/>
          <p:nvPr/>
        </p:nvSpPr>
        <p:spPr>
          <a:xfrm>
            <a:off x="213360" y="3039621"/>
            <a:ext cx="1188720" cy="594360"/>
          </a:xfrm>
          <a:prstGeom prst="roundRect">
            <a:avLst/>
          </a:prstGeom>
          <a:solidFill>
            <a:srgbClr val="0F3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a:extLst>
              <a:ext uri="{FF2B5EF4-FFF2-40B4-BE49-F238E27FC236}">
                <a16:creationId xmlns:a16="http://schemas.microsoft.com/office/drawing/2014/main" id="{2A9993F2-3F0B-31FB-DB59-9512D0B82EF7}"/>
              </a:ext>
            </a:extLst>
          </p:cNvPr>
          <p:cNvSpPr txBox="1"/>
          <p:nvPr/>
        </p:nvSpPr>
        <p:spPr>
          <a:xfrm>
            <a:off x="213360" y="3226001"/>
            <a:ext cx="1188720" cy="221599"/>
          </a:xfrm>
          <a:prstGeom prst="rect">
            <a:avLst/>
          </a:prstGeom>
          <a:noFill/>
        </p:spPr>
        <p:txBody>
          <a:bodyPr wrap="square" lIns="45720" tIns="18288" rIns="45720" bIns="18288" anchor="ctr">
            <a:spAutoFit/>
          </a:bodyPr>
          <a:lstStyle/>
          <a:p>
            <a:pPr algn="ctr"/>
            <a:r>
              <a:rPr sz="1200" b="1" dirty="0">
                <a:solidFill>
                  <a:srgbClr val="FFFFFF"/>
                </a:solidFill>
                <a:latin typeface="Calibri"/>
              </a:rPr>
              <a:t>Source </a:t>
            </a:r>
          </a:p>
        </p:txBody>
      </p:sp>
      <p:cxnSp>
        <p:nvCxnSpPr>
          <p:cNvPr id="81" name="Connector 14">
            <a:extLst>
              <a:ext uri="{FF2B5EF4-FFF2-40B4-BE49-F238E27FC236}">
                <a16:creationId xmlns:a16="http://schemas.microsoft.com/office/drawing/2014/main" id="{A3FF8CB7-F35C-9EB1-BDC9-C498CB3194F9}"/>
              </a:ext>
            </a:extLst>
          </p:cNvPr>
          <p:cNvCxnSpPr/>
          <p:nvPr/>
        </p:nvCxnSpPr>
        <p:spPr>
          <a:xfrm>
            <a:off x="1463040" y="3319279"/>
            <a:ext cx="228600" cy="0"/>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82" name="Rounded Rectangle 15">
            <a:extLst>
              <a:ext uri="{FF2B5EF4-FFF2-40B4-BE49-F238E27FC236}">
                <a16:creationId xmlns:a16="http://schemas.microsoft.com/office/drawing/2014/main" id="{93E34984-7490-CF8B-23DF-95B99807888B}"/>
              </a:ext>
            </a:extLst>
          </p:cNvPr>
          <p:cNvSpPr/>
          <p:nvPr/>
        </p:nvSpPr>
        <p:spPr>
          <a:xfrm>
            <a:off x="1691640" y="3022099"/>
            <a:ext cx="1325880" cy="594360"/>
          </a:xfrm>
          <a:prstGeom prst="roundRect">
            <a:avLst/>
          </a:prstGeom>
          <a:solidFill>
            <a:srgbClr val="1E6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a:extLst>
              <a:ext uri="{FF2B5EF4-FFF2-40B4-BE49-F238E27FC236}">
                <a16:creationId xmlns:a16="http://schemas.microsoft.com/office/drawing/2014/main" id="{34153A29-8213-B3CA-BD69-F3A09288FF42}"/>
              </a:ext>
            </a:extLst>
          </p:cNvPr>
          <p:cNvSpPr txBox="1"/>
          <p:nvPr/>
        </p:nvSpPr>
        <p:spPr>
          <a:xfrm>
            <a:off x="1691640" y="3022099"/>
            <a:ext cx="1325880" cy="594360"/>
          </a:xfrm>
          <a:prstGeom prst="rect">
            <a:avLst/>
          </a:prstGeom>
          <a:noFill/>
        </p:spPr>
        <p:txBody>
          <a:bodyPr wrap="square" lIns="45720" tIns="18288" rIns="45720" bIns="18288" anchor="ctr">
            <a:spAutoFit/>
          </a:bodyPr>
          <a:lstStyle/>
          <a:p>
            <a:pPr algn="ctr"/>
            <a:r>
              <a:rPr sz="1200" b="1">
                <a:solidFill>
                  <a:srgbClr val="FFFFFF"/>
                </a:solidFill>
                <a:latin typeface="Calibri"/>
              </a:rPr>
              <a:t>Motion
Extractor  M</a:t>
            </a:r>
          </a:p>
        </p:txBody>
      </p:sp>
      <p:cxnSp>
        <p:nvCxnSpPr>
          <p:cNvPr id="84" name="Connector 17">
            <a:extLst>
              <a:ext uri="{FF2B5EF4-FFF2-40B4-BE49-F238E27FC236}">
                <a16:creationId xmlns:a16="http://schemas.microsoft.com/office/drawing/2014/main" id="{40F32C49-7503-A5F7-C21D-86DD81B2DAAA}"/>
              </a:ext>
            </a:extLst>
          </p:cNvPr>
          <p:cNvCxnSpPr/>
          <p:nvPr/>
        </p:nvCxnSpPr>
        <p:spPr>
          <a:xfrm>
            <a:off x="3017520" y="3319279"/>
            <a:ext cx="228600" cy="0"/>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466344"/>
            <a:ext cx="8595360" cy="548640"/>
          </a:xfrm>
          <a:prstGeom prst="rect">
            <a:avLst/>
          </a:prstGeom>
          <a:noFill/>
        </p:spPr>
        <p:txBody>
          <a:bodyPr wrap="square" lIns="45720" tIns="18288" rIns="45720" bIns="18288" anchor="t">
            <a:spAutoFit/>
          </a:bodyPr>
          <a:lstStyle/>
          <a:p>
            <a:pPr algn="l"/>
            <a:r>
              <a:rPr sz="2400" b="1" dirty="0">
                <a:solidFill>
                  <a:srgbClr val="0F3F7A"/>
                </a:solidFill>
                <a:latin typeface="Calibri"/>
              </a:rPr>
              <a:t>Seed-VC V2 — Voice Conversion Architecture</a:t>
            </a:r>
          </a:p>
        </p:txBody>
      </p:sp>
      <p:sp>
        <p:nvSpPr>
          <p:cNvPr id="5" name="Rounded Rectangle 4"/>
          <p:cNvSpPr/>
          <p:nvPr/>
        </p:nvSpPr>
        <p:spPr>
          <a:xfrm>
            <a:off x="274320" y="1554480"/>
            <a:ext cx="1463040" cy="640080"/>
          </a:xfrm>
          <a:prstGeom prst="roundRect">
            <a:avLst/>
          </a:prstGeom>
          <a:solidFill>
            <a:srgbClr val="0F3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1554480"/>
            <a:ext cx="1463040" cy="640080"/>
          </a:xfrm>
          <a:prstGeom prst="rect">
            <a:avLst/>
          </a:prstGeom>
          <a:noFill/>
        </p:spPr>
        <p:txBody>
          <a:bodyPr wrap="square" lIns="45720" tIns="18288" rIns="45720" bIns="18288" anchor="ctr">
            <a:spAutoFit/>
          </a:bodyPr>
          <a:lstStyle/>
          <a:p>
            <a:pPr algn="ctr"/>
            <a:r>
              <a:rPr sz="1200" b="1">
                <a:solidFill>
                  <a:srgbClr val="FFFFFF"/>
                </a:solidFill>
                <a:latin typeface="Calibri"/>
              </a:rPr>
              <a:t>Source audio
(therapist)</a:t>
            </a:r>
          </a:p>
        </p:txBody>
      </p:sp>
      <p:cxnSp>
        <p:nvCxnSpPr>
          <p:cNvPr id="7" name="Connector 6"/>
          <p:cNvCxnSpPr/>
          <p:nvPr/>
        </p:nvCxnSpPr>
        <p:spPr>
          <a:xfrm>
            <a:off x="1737360" y="1874519"/>
            <a:ext cx="320040" cy="0"/>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057400" y="1554480"/>
            <a:ext cx="1828800" cy="640080"/>
          </a:xfrm>
          <a:prstGeom prst="roundRect">
            <a:avLst/>
          </a:prstGeom>
          <a:solidFill>
            <a:srgbClr val="1E6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57400" y="1671387"/>
            <a:ext cx="1828800" cy="406265"/>
          </a:xfrm>
          <a:prstGeom prst="rect">
            <a:avLst/>
          </a:prstGeom>
          <a:noFill/>
        </p:spPr>
        <p:txBody>
          <a:bodyPr wrap="square" lIns="45720" tIns="18288" rIns="45720" bIns="18288" anchor="ctr">
            <a:spAutoFit/>
          </a:bodyPr>
          <a:lstStyle/>
          <a:p>
            <a:pPr algn="ctr"/>
            <a:r>
              <a:rPr sz="1200" b="1" dirty="0">
                <a:solidFill>
                  <a:srgbClr val="FFFFFF"/>
                </a:solidFill>
                <a:latin typeface="Calibri"/>
              </a:rPr>
              <a:t>Content Encoder
(</a:t>
            </a:r>
            <a:r>
              <a:rPr sz="1200" b="1" dirty="0" err="1">
                <a:solidFill>
                  <a:srgbClr val="FFFFFF"/>
                </a:solidFill>
                <a:latin typeface="Calibri"/>
              </a:rPr>
              <a:t>HuBERT</a:t>
            </a:r>
            <a:r>
              <a:rPr sz="1200" b="1" dirty="0">
                <a:solidFill>
                  <a:srgbClr val="FFFFFF"/>
                </a:solidFill>
                <a:latin typeface="Calibri"/>
              </a:rPr>
              <a:t>)</a:t>
            </a:r>
          </a:p>
        </p:txBody>
      </p:sp>
      <p:cxnSp>
        <p:nvCxnSpPr>
          <p:cNvPr id="10" name="Connector 9"/>
          <p:cNvCxnSpPr/>
          <p:nvPr/>
        </p:nvCxnSpPr>
        <p:spPr>
          <a:xfrm>
            <a:off x="3886200" y="1874519"/>
            <a:ext cx="320040" cy="0"/>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06240" y="1554480"/>
            <a:ext cx="1737360" cy="640080"/>
          </a:xfrm>
          <a:prstGeom prst="round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06240" y="1671387"/>
            <a:ext cx="1737360" cy="406265"/>
          </a:xfrm>
          <a:prstGeom prst="rect">
            <a:avLst/>
          </a:prstGeom>
          <a:noFill/>
        </p:spPr>
        <p:txBody>
          <a:bodyPr wrap="square" lIns="45720" tIns="18288" rIns="45720" bIns="18288" anchor="ctr">
            <a:spAutoFit/>
          </a:bodyPr>
          <a:lstStyle/>
          <a:p>
            <a:pPr algn="ctr"/>
            <a:r>
              <a:rPr sz="1200" b="1" dirty="0">
                <a:solidFill>
                  <a:srgbClr val="333333"/>
                </a:solidFill>
                <a:latin typeface="Calibri"/>
              </a:rPr>
              <a:t>Speaker-invariant
content </a:t>
            </a:r>
            <a:r>
              <a:rPr lang="en-IN" sz="1200" b="1" dirty="0">
                <a:solidFill>
                  <a:srgbClr val="333333"/>
                </a:solidFill>
                <a:latin typeface="Calibri"/>
              </a:rPr>
              <a:t>embedding</a:t>
            </a:r>
            <a:endParaRPr sz="1200" b="1" dirty="0">
              <a:solidFill>
                <a:srgbClr val="333333"/>
              </a:solidFill>
              <a:latin typeface="Calibri"/>
            </a:endParaRPr>
          </a:p>
        </p:txBody>
      </p:sp>
      <p:sp>
        <p:nvSpPr>
          <p:cNvPr id="13" name="Rounded Rectangle 12"/>
          <p:cNvSpPr/>
          <p:nvPr/>
        </p:nvSpPr>
        <p:spPr>
          <a:xfrm>
            <a:off x="274320" y="2377440"/>
            <a:ext cx="1463040" cy="64008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4320" y="2377440"/>
            <a:ext cx="1463040" cy="640080"/>
          </a:xfrm>
          <a:prstGeom prst="rect">
            <a:avLst/>
          </a:prstGeom>
          <a:noFill/>
        </p:spPr>
        <p:txBody>
          <a:bodyPr wrap="square" lIns="45720" tIns="18288" rIns="45720" bIns="18288" anchor="ctr">
            <a:spAutoFit/>
          </a:bodyPr>
          <a:lstStyle/>
          <a:p>
            <a:pPr algn="ctr"/>
            <a:r>
              <a:rPr sz="1200" b="1">
                <a:solidFill>
                  <a:srgbClr val="FFFFFF"/>
                </a:solidFill>
                <a:latin typeface="Calibri"/>
              </a:rPr>
              <a:t>Target voice ref
(patient or preset)</a:t>
            </a:r>
          </a:p>
        </p:txBody>
      </p:sp>
      <p:cxnSp>
        <p:nvCxnSpPr>
          <p:cNvPr id="15" name="Connector 14"/>
          <p:cNvCxnSpPr/>
          <p:nvPr/>
        </p:nvCxnSpPr>
        <p:spPr>
          <a:xfrm>
            <a:off x="1737360" y="2697480"/>
            <a:ext cx="320040" cy="0"/>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057400" y="2377440"/>
            <a:ext cx="1828800" cy="640080"/>
          </a:xfrm>
          <a:prstGeom prst="roundRect">
            <a:avLst/>
          </a:prstGeom>
          <a:solidFill>
            <a:srgbClr val="1E6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057400" y="2494347"/>
            <a:ext cx="1828800" cy="406265"/>
          </a:xfrm>
          <a:prstGeom prst="rect">
            <a:avLst/>
          </a:prstGeom>
          <a:noFill/>
        </p:spPr>
        <p:txBody>
          <a:bodyPr wrap="square" lIns="45720" tIns="18288" rIns="45720" bIns="18288" anchor="ctr">
            <a:spAutoFit/>
          </a:bodyPr>
          <a:lstStyle/>
          <a:p>
            <a:pPr algn="ctr"/>
            <a:r>
              <a:rPr sz="1200" b="1" dirty="0">
                <a:solidFill>
                  <a:srgbClr val="FFFFFF"/>
                </a:solidFill>
                <a:latin typeface="Calibri"/>
              </a:rPr>
              <a:t>Speaker Encoder</a:t>
            </a:r>
            <a:br>
              <a:rPr lang="en-IN" sz="1200" b="1" dirty="0">
                <a:solidFill>
                  <a:srgbClr val="FFFFFF"/>
                </a:solidFill>
                <a:latin typeface="Calibri"/>
              </a:rPr>
            </a:br>
            <a:r>
              <a:rPr lang="en-IN" sz="1200" b="1" dirty="0">
                <a:solidFill>
                  <a:srgbClr val="FFFFFF"/>
                </a:solidFill>
                <a:latin typeface="Calibri"/>
              </a:rPr>
              <a:t>(CAM++)</a:t>
            </a:r>
            <a:endParaRPr sz="1200" b="1" dirty="0">
              <a:solidFill>
                <a:srgbClr val="FFFFFF"/>
              </a:solidFill>
              <a:latin typeface="Calibri"/>
            </a:endParaRPr>
          </a:p>
        </p:txBody>
      </p:sp>
      <p:cxnSp>
        <p:nvCxnSpPr>
          <p:cNvPr id="18" name="Connector 17"/>
          <p:cNvCxnSpPr/>
          <p:nvPr/>
        </p:nvCxnSpPr>
        <p:spPr>
          <a:xfrm>
            <a:off x="3886200" y="2697480"/>
            <a:ext cx="320040" cy="0"/>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206240" y="2377440"/>
            <a:ext cx="1737360" cy="640080"/>
          </a:xfrm>
          <a:prstGeom prst="round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06240" y="2377440"/>
            <a:ext cx="1737360" cy="640080"/>
          </a:xfrm>
          <a:prstGeom prst="rect">
            <a:avLst/>
          </a:prstGeom>
          <a:noFill/>
        </p:spPr>
        <p:txBody>
          <a:bodyPr wrap="square" lIns="45720" tIns="18288" rIns="45720" bIns="18288" anchor="ctr">
            <a:spAutoFit/>
          </a:bodyPr>
          <a:lstStyle/>
          <a:p>
            <a:pPr algn="ctr"/>
            <a:r>
              <a:rPr sz="1200" b="1">
                <a:solidFill>
                  <a:srgbClr val="333333"/>
                </a:solidFill>
                <a:latin typeface="Calibri"/>
              </a:rPr>
              <a:t>Target speaker
embedding</a:t>
            </a:r>
          </a:p>
        </p:txBody>
      </p:sp>
      <p:cxnSp>
        <p:nvCxnSpPr>
          <p:cNvPr id="21" name="Connector 20"/>
          <p:cNvCxnSpPr/>
          <p:nvPr/>
        </p:nvCxnSpPr>
        <p:spPr>
          <a:xfrm>
            <a:off x="5943600" y="1874519"/>
            <a:ext cx="320040" cy="228601"/>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5943600" y="2468880"/>
            <a:ext cx="320040" cy="228600"/>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263640" y="1874519"/>
            <a:ext cx="1920240" cy="86868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63640" y="1874519"/>
            <a:ext cx="1920240" cy="868680"/>
          </a:xfrm>
          <a:prstGeom prst="rect">
            <a:avLst/>
          </a:prstGeom>
          <a:noFill/>
        </p:spPr>
        <p:txBody>
          <a:bodyPr wrap="square" lIns="45720" tIns="18288" rIns="45720" bIns="18288" anchor="ctr">
            <a:spAutoFit/>
          </a:bodyPr>
          <a:lstStyle/>
          <a:p>
            <a:pPr algn="ctr"/>
            <a:r>
              <a:rPr sz="1200" b="1">
                <a:solidFill>
                  <a:srgbClr val="FFFFFF"/>
                </a:solidFill>
                <a:latin typeface="Calibri"/>
              </a:rPr>
              <a:t>Diffusion-Transformer
Decoder
(30 steps, CFG = 0.7)</a:t>
            </a:r>
          </a:p>
        </p:txBody>
      </p:sp>
      <p:cxnSp>
        <p:nvCxnSpPr>
          <p:cNvPr id="25" name="Connector 24"/>
          <p:cNvCxnSpPr/>
          <p:nvPr/>
        </p:nvCxnSpPr>
        <p:spPr>
          <a:xfrm>
            <a:off x="7223760" y="2743200"/>
            <a:ext cx="0" cy="457200"/>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324600" y="3241548"/>
            <a:ext cx="1828800" cy="594360"/>
          </a:xfrm>
          <a:prstGeom prst="round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24600" y="3241548"/>
            <a:ext cx="1828800" cy="594360"/>
          </a:xfrm>
          <a:prstGeom prst="rect">
            <a:avLst/>
          </a:prstGeom>
          <a:noFill/>
        </p:spPr>
        <p:txBody>
          <a:bodyPr wrap="square" lIns="45720" tIns="18288" rIns="45720" bIns="18288" anchor="ctr">
            <a:spAutoFit/>
          </a:bodyPr>
          <a:lstStyle/>
          <a:p>
            <a:pPr algn="ctr"/>
            <a:r>
              <a:rPr sz="1200" b="1">
                <a:solidFill>
                  <a:srgbClr val="333333"/>
                </a:solidFill>
                <a:latin typeface="Calibri"/>
              </a:rPr>
              <a:t>Mel-spectrogram</a:t>
            </a:r>
          </a:p>
        </p:txBody>
      </p:sp>
      <p:cxnSp>
        <p:nvCxnSpPr>
          <p:cNvPr id="28" name="Connector 27"/>
          <p:cNvCxnSpPr>
            <a:cxnSpLocks/>
            <a:stCxn id="27" idx="1"/>
            <a:endCxn id="30" idx="3"/>
          </p:cNvCxnSpPr>
          <p:nvPr/>
        </p:nvCxnSpPr>
        <p:spPr>
          <a:xfrm rot="10800000">
            <a:off x="6035040" y="3538728"/>
            <a:ext cx="289560" cy="12700"/>
          </a:xfrm>
          <a:prstGeom prst="bentConnector3">
            <a:avLst>
              <a:gd name="adj1" fmla="val -1754"/>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480560" y="3241548"/>
            <a:ext cx="1554480" cy="594360"/>
          </a:xfrm>
          <a:prstGeom prst="roundRect">
            <a:avLst/>
          </a:prstGeom>
          <a:solidFill>
            <a:srgbClr val="1E6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480560" y="3241548"/>
            <a:ext cx="1554480" cy="594360"/>
          </a:xfrm>
          <a:prstGeom prst="rect">
            <a:avLst/>
          </a:prstGeom>
          <a:noFill/>
        </p:spPr>
        <p:txBody>
          <a:bodyPr wrap="square" lIns="45720" tIns="18288" rIns="45720" bIns="18288" anchor="ctr">
            <a:spAutoFit/>
          </a:bodyPr>
          <a:lstStyle/>
          <a:p>
            <a:pPr algn="ctr"/>
            <a:r>
              <a:rPr sz="1200" b="1">
                <a:solidFill>
                  <a:srgbClr val="FFFFFF"/>
                </a:solidFill>
                <a:latin typeface="Calibri"/>
              </a:rPr>
              <a:t>Vocoder</a:t>
            </a:r>
          </a:p>
        </p:txBody>
      </p:sp>
      <p:cxnSp>
        <p:nvCxnSpPr>
          <p:cNvPr id="31" name="Connector 30"/>
          <p:cNvCxnSpPr/>
          <p:nvPr/>
        </p:nvCxnSpPr>
        <p:spPr>
          <a:xfrm>
            <a:off x="3931920" y="3337560"/>
            <a:ext cx="320040" cy="0"/>
          </a:xfrm>
          <a:prstGeom prst="bentConnector3">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2217420" y="3241548"/>
            <a:ext cx="2011680" cy="59436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217420" y="3241548"/>
            <a:ext cx="2011680" cy="594360"/>
          </a:xfrm>
          <a:prstGeom prst="rect">
            <a:avLst/>
          </a:prstGeom>
          <a:noFill/>
        </p:spPr>
        <p:txBody>
          <a:bodyPr wrap="square" lIns="45720" tIns="18288" rIns="45720" bIns="18288" anchor="ctr">
            <a:spAutoFit/>
          </a:bodyPr>
          <a:lstStyle/>
          <a:p>
            <a:pPr algn="ctr"/>
            <a:r>
              <a:rPr sz="1200" b="1">
                <a:solidFill>
                  <a:srgbClr val="FFFFFF"/>
                </a:solidFill>
                <a:latin typeface="Calibri"/>
              </a:rPr>
              <a:t>Re-voiced audio
(merged onto video)</a:t>
            </a:r>
          </a:p>
        </p:txBody>
      </p:sp>
      <p:sp>
        <p:nvSpPr>
          <p:cNvPr id="34" name="Rounded Rectangle 33"/>
          <p:cNvSpPr/>
          <p:nvPr/>
        </p:nvSpPr>
        <p:spPr>
          <a:xfrm>
            <a:off x="274320" y="4069080"/>
            <a:ext cx="4206240" cy="1874519"/>
          </a:xfrm>
          <a:prstGeom prst="round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7200" y="4160520"/>
            <a:ext cx="3840480" cy="365760"/>
          </a:xfrm>
          <a:prstGeom prst="rect">
            <a:avLst/>
          </a:prstGeom>
          <a:noFill/>
        </p:spPr>
        <p:txBody>
          <a:bodyPr wrap="square" lIns="45720" tIns="18288" rIns="45720" bIns="18288" anchor="t">
            <a:spAutoFit/>
          </a:bodyPr>
          <a:lstStyle/>
          <a:p>
            <a:pPr algn="l"/>
            <a:r>
              <a:rPr sz="1300" b="1">
                <a:solidFill>
                  <a:srgbClr val="0F3F7A"/>
                </a:solidFill>
                <a:latin typeface="Calibri"/>
              </a:rPr>
              <a:t>Why this architecture works for us</a:t>
            </a:r>
          </a:p>
        </p:txBody>
      </p:sp>
      <p:sp>
        <p:nvSpPr>
          <p:cNvPr id="36" name="TextBox 35"/>
          <p:cNvSpPr txBox="1"/>
          <p:nvPr/>
        </p:nvSpPr>
        <p:spPr>
          <a:xfrm>
            <a:off x="457200" y="4526280"/>
            <a:ext cx="3840480" cy="1417320"/>
          </a:xfrm>
          <a:prstGeom prst="rect">
            <a:avLst/>
          </a:prstGeom>
          <a:noFill/>
        </p:spPr>
        <p:txBody>
          <a:bodyPr wrap="square" lIns="45720" rIns="45720">
            <a:spAutoFit/>
          </a:bodyPr>
          <a:lstStyle/>
          <a:p>
            <a:pPr algn="l">
              <a:spcAft>
                <a:spcPts val="600"/>
              </a:spcAft>
            </a:pPr>
            <a:r>
              <a:rPr sz="1200">
                <a:solidFill>
                  <a:srgbClr val="333333"/>
                </a:solidFill>
                <a:latin typeface="Calibri"/>
              </a:rPr>
              <a:t>•  Content encoder is speaker-invariant — keeps the words, drops the timbre</a:t>
            </a:r>
          </a:p>
          <a:p>
            <a:pPr algn="l">
              <a:spcAft>
                <a:spcPts val="600"/>
              </a:spcAft>
            </a:pPr>
            <a:r>
              <a:rPr sz="1200">
                <a:solidFill>
                  <a:srgbClr val="333333"/>
                </a:solidFill>
                <a:latin typeface="Calibri"/>
              </a:rPr>
              <a:t>•  Speaker encoder reads timbre from a short target clip — no per-patient training</a:t>
            </a:r>
          </a:p>
          <a:p>
            <a:pPr algn="l">
              <a:spcAft>
                <a:spcPts val="600"/>
              </a:spcAft>
            </a:pPr>
            <a:r>
              <a:rPr sz="1200">
                <a:solidFill>
                  <a:srgbClr val="333333"/>
                </a:solidFill>
                <a:latin typeface="Calibri"/>
              </a:rPr>
              <a:t>•  30 diffusion steps gives natural prosody at a few seconds per clip</a:t>
            </a:r>
          </a:p>
        </p:txBody>
      </p:sp>
      <p:sp>
        <p:nvSpPr>
          <p:cNvPr id="37" name="Rounded Rectangle 36"/>
          <p:cNvSpPr/>
          <p:nvPr/>
        </p:nvSpPr>
        <p:spPr>
          <a:xfrm>
            <a:off x="4663440" y="4069080"/>
            <a:ext cx="4206240" cy="1874519"/>
          </a:xfrm>
          <a:prstGeom prst="round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846320" y="4160520"/>
            <a:ext cx="3840480" cy="365760"/>
          </a:xfrm>
          <a:prstGeom prst="rect">
            <a:avLst/>
          </a:prstGeom>
          <a:noFill/>
        </p:spPr>
        <p:txBody>
          <a:bodyPr wrap="square" lIns="45720" tIns="18288" rIns="45720" bIns="18288" anchor="t">
            <a:spAutoFit/>
          </a:bodyPr>
          <a:lstStyle/>
          <a:p>
            <a:pPr algn="l"/>
            <a:r>
              <a:rPr sz="1300" b="1">
                <a:solidFill>
                  <a:srgbClr val="0F3F7A"/>
                </a:solidFill>
                <a:latin typeface="Calibri"/>
              </a:rPr>
              <a:t>Default Voice Gallery</a:t>
            </a:r>
          </a:p>
        </p:txBody>
      </p:sp>
      <p:sp>
        <p:nvSpPr>
          <p:cNvPr id="39" name="TextBox 38"/>
          <p:cNvSpPr txBox="1"/>
          <p:nvPr/>
        </p:nvSpPr>
        <p:spPr>
          <a:xfrm>
            <a:off x="4846320" y="4498848"/>
            <a:ext cx="3840480" cy="274320"/>
          </a:xfrm>
          <a:prstGeom prst="rect">
            <a:avLst/>
          </a:prstGeom>
          <a:noFill/>
        </p:spPr>
        <p:txBody>
          <a:bodyPr wrap="square" lIns="45720" tIns="18288" rIns="45720" bIns="18288" anchor="t">
            <a:spAutoFit/>
          </a:bodyPr>
          <a:lstStyle/>
          <a:p>
            <a:pPr algn="l"/>
            <a:r>
              <a:rPr sz="1200" b="0">
                <a:solidFill>
                  <a:srgbClr val="333333"/>
                </a:solidFill>
                <a:latin typeface="Calibri"/>
              </a:rPr>
              <a:t>Used when patient sample is missing or fails guardrails:</a:t>
            </a:r>
          </a:p>
        </p:txBody>
      </p:sp>
      <p:sp>
        <p:nvSpPr>
          <p:cNvPr id="40" name="Rounded Rectangle 39"/>
          <p:cNvSpPr/>
          <p:nvPr/>
        </p:nvSpPr>
        <p:spPr>
          <a:xfrm>
            <a:off x="4846320" y="4846320"/>
            <a:ext cx="1737360" cy="292608"/>
          </a:xfrm>
          <a:prstGeom prst="roundRect">
            <a:avLst/>
          </a:prstGeom>
          <a:solidFill>
            <a:srgbClr val="1E6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846320" y="4846320"/>
            <a:ext cx="1737360" cy="292608"/>
          </a:xfrm>
          <a:prstGeom prst="rect">
            <a:avLst/>
          </a:prstGeom>
          <a:noFill/>
        </p:spPr>
        <p:txBody>
          <a:bodyPr wrap="square" lIns="45720" tIns="18288" rIns="45720" bIns="18288" anchor="ctr">
            <a:spAutoFit/>
          </a:bodyPr>
          <a:lstStyle/>
          <a:p>
            <a:pPr algn="ctr"/>
            <a:r>
              <a:rPr sz="1200" b="1">
                <a:solidFill>
                  <a:srgbClr val="FFFFFF"/>
                </a:solidFill>
                <a:latin typeface="Calibri"/>
              </a:rPr>
              <a:t>Male — High</a:t>
            </a:r>
          </a:p>
        </p:txBody>
      </p:sp>
      <p:sp>
        <p:nvSpPr>
          <p:cNvPr id="42" name="Rounded Rectangle 41"/>
          <p:cNvSpPr/>
          <p:nvPr/>
        </p:nvSpPr>
        <p:spPr>
          <a:xfrm>
            <a:off x="6766560" y="4846320"/>
            <a:ext cx="2011680" cy="292608"/>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766560" y="4846320"/>
            <a:ext cx="2011680" cy="292608"/>
          </a:xfrm>
          <a:prstGeom prst="rect">
            <a:avLst/>
          </a:prstGeom>
          <a:noFill/>
        </p:spPr>
        <p:txBody>
          <a:bodyPr wrap="square" lIns="45720" tIns="18288" rIns="45720" bIns="18288" anchor="ctr">
            <a:spAutoFit/>
          </a:bodyPr>
          <a:lstStyle/>
          <a:p>
            <a:pPr algn="ctr"/>
            <a:r>
              <a:rPr sz="1200" b="1">
                <a:solidFill>
                  <a:srgbClr val="FFFFFF"/>
                </a:solidFill>
                <a:latin typeface="Calibri"/>
              </a:rPr>
              <a:t>Female — High</a:t>
            </a:r>
          </a:p>
        </p:txBody>
      </p:sp>
      <p:sp>
        <p:nvSpPr>
          <p:cNvPr id="44" name="Rounded Rectangle 43"/>
          <p:cNvSpPr/>
          <p:nvPr/>
        </p:nvSpPr>
        <p:spPr>
          <a:xfrm>
            <a:off x="4846320" y="5193792"/>
            <a:ext cx="1737360" cy="292608"/>
          </a:xfrm>
          <a:prstGeom prst="roundRect">
            <a:avLst/>
          </a:prstGeom>
          <a:solidFill>
            <a:srgbClr val="1E6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846320" y="5193792"/>
            <a:ext cx="1737360" cy="292608"/>
          </a:xfrm>
          <a:prstGeom prst="rect">
            <a:avLst/>
          </a:prstGeom>
          <a:noFill/>
        </p:spPr>
        <p:txBody>
          <a:bodyPr wrap="square" lIns="45720" tIns="18288" rIns="45720" bIns="18288" anchor="ctr">
            <a:spAutoFit/>
          </a:bodyPr>
          <a:lstStyle/>
          <a:p>
            <a:pPr algn="ctr"/>
            <a:r>
              <a:rPr sz="1200" b="1">
                <a:solidFill>
                  <a:srgbClr val="FFFFFF"/>
                </a:solidFill>
                <a:latin typeface="Calibri"/>
              </a:rPr>
              <a:t>Male — Medium</a:t>
            </a:r>
          </a:p>
        </p:txBody>
      </p:sp>
      <p:sp>
        <p:nvSpPr>
          <p:cNvPr id="46" name="Rounded Rectangle 45"/>
          <p:cNvSpPr/>
          <p:nvPr/>
        </p:nvSpPr>
        <p:spPr>
          <a:xfrm>
            <a:off x="6766560" y="5193792"/>
            <a:ext cx="2011680" cy="292608"/>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766560" y="5193792"/>
            <a:ext cx="2011680" cy="292608"/>
          </a:xfrm>
          <a:prstGeom prst="rect">
            <a:avLst/>
          </a:prstGeom>
          <a:noFill/>
        </p:spPr>
        <p:txBody>
          <a:bodyPr wrap="square" lIns="45720" tIns="18288" rIns="45720" bIns="18288" anchor="ctr">
            <a:spAutoFit/>
          </a:bodyPr>
          <a:lstStyle/>
          <a:p>
            <a:pPr algn="ctr"/>
            <a:r>
              <a:rPr sz="1200" b="1">
                <a:solidFill>
                  <a:srgbClr val="FFFFFF"/>
                </a:solidFill>
                <a:latin typeface="Calibri"/>
              </a:rPr>
              <a:t>Female — Medium</a:t>
            </a:r>
          </a:p>
        </p:txBody>
      </p:sp>
      <p:sp>
        <p:nvSpPr>
          <p:cNvPr id="48" name="Rounded Rectangle 47"/>
          <p:cNvSpPr/>
          <p:nvPr/>
        </p:nvSpPr>
        <p:spPr>
          <a:xfrm>
            <a:off x="4846320" y="5541264"/>
            <a:ext cx="1737360" cy="292608"/>
          </a:xfrm>
          <a:prstGeom prst="roundRect">
            <a:avLst/>
          </a:prstGeom>
          <a:solidFill>
            <a:srgbClr val="1E6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846320" y="5541264"/>
            <a:ext cx="1737360" cy="292608"/>
          </a:xfrm>
          <a:prstGeom prst="rect">
            <a:avLst/>
          </a:prstGeom>
          <a:noFill/>
        </p:spPr>
        <p:txBody>
          <a:bodyPr wrap="square" lIns="45720" tIns="18288" rIns="45720" bIns="18288" anchor="ctr">
            <a:spAutoFit/>
          </a:bodyPr>
          <a:lstStyle/>
          <a:p>
            <a:pPr algn="ctr"/>
            <a:r>
              <a:rPr sz="1200" b="1">
                <a:solidFill>
                  <a:srgbClr val="FFFFFF"/>
                </a:solidFill>
                <a:latin typeface="Calibri"/>
              </a:rPr>
              <a:t>Male — Low</a:t>
            </a:r>
          </a:p>
        </p:txBody>
      </p:sp>
      <p:sp>
        <p:nvSpPr>
          <p:cNvPr id="50" name="Rounded Rectangle 49"/>
          <p:cNvSpPr/>
          <p:nvPr/>
        </p:nvSpPr>
        <p:spPr>
          <a:xfrm>
            <a:off x="6766560" y="5541264"/>
            <a:ext cx="2011680" cy="292608"/>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766560" y="5541264"/>
            <a:ext cx="2011680" cy="292608"/>
          </a:xfrm>
          <a:prstGeom prst="rect">
            <a:avLst/>
          </a:prstGeom>
          <a:noFill/>
        </p:spPr>
        <p:txBody>
          <a:bodyPr wrap="square" lIns="45720" tIns="18288" rIns="45720" bIns="18288" anchor="ctr">
            <a:spAutoFit/>
          </a:bodyPr>
          <a:lstStyle/>
          <a:p>
            <a:pPr algn="ctr"/>
            <a:r>
              <a:rPr sz="1200" b="1">
                <a:solidFill>
                  <a:srgbClr val="FFFFFF"/>
                </a:solidFill>
                <a:latin typeface="Calibri"/>
              </a:rPr>
              <a:t>Female — Low</a:t>
            </a:r>
          </a:p>
        </p:txBody>
      </p:sp>
      <p:cxnSp>
        <p:nvCxnSpPr>
          <p:cNvPr id="55" name="Connector 27">
            <a:extLst>
              <a:ext uri="{FF2B5EF4-FFF2-40B4-BE49-F238E27FC236}">
                <a16:creationId xmlns:a16="http://schemas.microsoft.com/office/drawing/2014/main" id="{F47AAB47-2072-526C-DB6D-72EBD47B0ECF}"/>
              </a:ext>
            </a:extLst>
          </p:cNvPr>
          <p:cNvCxnSpPr>
            <a:cxnSpLocks/>
          </p:cNvCxnSpPr>
          <p:nvPr/>
        </p:nvCxnSpPr>
        <p:spPr>
          <a:xfrm rot="10800000">
            <a:off x="4191000" y="3555237"/>
            <a:ext cx="289560" cy="12700"/>
          </a:xfrm>
          <a:prstGeom prst="bentConnector3">
            <a:avLst>
              <a:gd name="adj1" fmla="val -2632"/>
            </a:avLst>
          </a:prstGeom>
          <a:ln w="254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434340"/>
            <a:ext cx="8595360" cy="502920"/>
          </a:xfrm>
          <a:prstGeom prst="rect">
            <a:avLst/>
          </a:prstGeom>
          <a:noFill/>
        </p:spPr>
        <p:txBody>
          <a:bodyPr wrap="square" lIns="45720" tIns="18288" rIns="45720" bIns="18288" anchor="t">
            <a:spAutoFit/>
          </a:bodyPr>
          <a:lstStyle/>
          <a:p>
            <a:pPr algn="l"/>
            <a:r>
              <a:rPr sz="2200" b="1" dirty="0">
                <a:solidFill>
                  <a:srgbClr val="0F3F7A"/>
                </a:solidFill>
                <a:latin typeface="Calibri"/>
              </a:rPr>
              <a:t>Dynamic Time Warping — Aligning Two Sequences in Time</a:t>
            </a:r>
          </a:p>
        </p:txBody>
      </p:sp>
      <p:sp>
        <p:nvSpPr>
          <p:cNvPr id="4" name="TextBox 3"/>
          <p:cNvSpPr txBox="1"/>
          <p:nvPr/>
        </p:nvSpPr>
        <p:spPr>
          <a:xfrm>
            <a:off x="256031" y="1075944"/>
            <a:ext cx="5120640" cy="365760"/>
          </a:xfrm>
          <a:prstGeom prst="rect">
            <a:avLst/>
          </a:prstGeom>
          <a:noFill/>
        </p:spPr>
        <p:txBody>
          <a:bodyPr wrap="square" lIns="45720" tIns="18288" rIns="45720" bIns="18288" anchor="t">
            <a:spAutoFit/>
          </a:bodyPr>
          <a:lstStyle/>
          <a:p>
            <a:pPr algn="l"/>
            <a:r>
              <a:rPr sz="1400" b="1" dirty="0">
                <a:solidFill>
                  <a:srgbClr val="0F3F7A"/>
                </a:solidFill>
                <a:latin typeface="Calibri"/>
              </a:rPr>
              <a:t>The intuition</a:t>
            </a:r>
          </a:p>
        </p:txBody>
      </p:sp>
      <p:sp>
        <p:nvSpPr>
          <p:cNvPr id="5" name="TextBox 4"/>
          <p:cNvSpPr txBox="1"/>
          <p:nvPr/>
        </p:nvSpPr>
        <p:spPr>
          <a:xfrm>
            <a:off x="274320" y="1325880"/>
            <a:ext cx="5120640" cy="868680"/>
          </a:xfrm>
          <a:prstGeom prst="rect">
            <a:avLst/>
          </a:prstGeom>
          <a:noFill/>
        </p:spPr>
        <p:txBody>
          <a:bodyPr wrap="square" lIns="45720" tIns="18288" rIns="45720" bIns="18288" anchor="t">
            <a:spAutoFit/>
          </a:bodyPr>
          <a:lstStyle/>
          <a:p>
            <a:pPr algn="l"/>
            <a:r>
              <a:rPr sz="1200" b="0" dirty="0">
                <a:solidFill>
                  <a:srgbClr val="333333"/>
                </a:solidFill>
                <a:latin typeface="Calibri"/>
              </a:rPr>
              <a:t>A patient does not speak at the same pace as the reference. Some syllables stretch, some compress. A frame-by-frame comparison would punish this as an articulation error. DTW first aligns the two sequences in time, then scores them.</a:t>
            </a:r>
          </a:p>
        </p:txBody>
      </p:sp>
      <p:sp>
        <p:nvSpPr>
          <p:cNvPr id="6" name="TextBox 5"/>
          <p:cNvSpPr txBox="1"/>
          <p:nvPr/>
        </p:nvSpPr>
        <p:spPr>
          <a:xfrm>
            <a:off x="274320" y="2220469"/>
            <a:ext cx="5120640" cy="365760"/>
          </a:xfrm>
          <a:prstGeom prst="rect">
            <a:avLst/>
          </a:prstGeom>
          <a:noFill/>
        </p:spPr>
        <p:txBody>
          <a:bodyPr wrap="square" lIns="45720" tIns="18288" rIns="45720" bIns="18288" anchor="t">
            <a:spAutoFit/>
          </a:bodyPr>
          <a:lstStyle/>
          <a:p>
            <a:pPr algn="l"/>
            <a:r>
              <a:rPr sz="1400" b="1">
                <a:solidFill>
                  <a:srgbClr val="0F3F7A"/>
                </a:solidFill>
                <a:latin typeface="Calibri"/>
              </a:rPr>
              <a:t>The setup</a:t>
            </a:r>
          </a:p>
        </p:txBody>
      </p:sp>
      <p:sp>
        <p:nvSpPr>
          <p:cNvPr id="7" name="TextBox 6"/>
          <p:cNvSpPr txBox="1"/>
          <p:nvPr/>
        </p:nvSpPr>
        <p:spPr>
          <a:xfrm>
            <a:off x="274320" y="2587752"/>
            <a:ext cx="5120640" cy="594360"/>
          </a:xfrm>
          <a:prstGeom prst="rect">
            <a:avLst/>
          </a:prstGeom>
          <a:noFill/>
        </p:spPr>
        <p:txBody>
          <a:bodyPr wrap="square" lIns="45720" tIns="18288" rIns="45720" bIns="18288" anchor="t">
            <a:spAutoFit/>
          </a:bodyPr>
          <a:lstStyle/>
          <a:p>
            <a:pPr algn="l"/>
            <a:r>
              <a:rPr sz="1200" b="0" dirty="0">
                <a:solidFill>
                  <a:srgbClr val="333333"/>
                </a:solidFill>
                <a:latin typeface="Calibri"/>
              </a:rPr>
              <a:t>Two sequences  a = (a₁, …, aₘ),   b = (b₁, …, bₙ)
and a local cost  d(aᵢ, bⱼ).</a:t>
            </a:r>
          </a:p>
        </p:txBody>
      </p:sp>
      <p:sp>
        <p:nvSpPr>
          <p:cNvPr id="8" name="Rounded Rectangle 7"/>
          <p:cNvSpPr/>
          <p:nvPr/>
        </p:nvSpPr>
        <p:spPr>
          <a:xfrm>
            <a:off x="274320" y="3200400"/>
            <a:ext cx="5120640" cy="1097280"/>
          </a:xfrm>
          <a:prstGeom prst="round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3246120"/>
            <a:ext cx="4937760" cy="320040"/>
          </a:xfrm>
          <a:prstGeom prst="rect">
            <a:avLst/>
          </a:prstGeom>
          <a:noFill/>
        </p:spPr>
        <p:txBody>
          <a:bodyPr wrap="square" lIns="45720" tIns="18288" rIns="45720" bIns="18288" anchor="t">
            <a:spAutoFit/>
          </a:bodyPr>
          <a:lstStyle/>
          <a:p>
            <a:pPr algn="l"/>
            <a:r>
              <a:rPr sz="1200" b="1">
                <a:solidFill>
                  <a:srgbClr val="0F3F7A"/>
                </a:solidFill>
                <a:latin typeface="Calibri"/>
              </a:rPr>
              <a:t>DTW recurrence (dynamic programming):</a:t>
            </a:r>
          </a:p>
        </p:txBody>
      </p:sp>
      <p:sp>
        <p:nvSpPr>
          <p:cNvPr id="10" name="TextBox 9"/>
          <p:cNvSpPr txBox="1"/>
          <p:nvPr/>
        </p:nvSpPr>
        <p:spPr>
          <a:xfrm>
            <a:off x="411480" y="3584448"/>
            <a:ext cx="4937760" cy="640080"/>
          </a:xfrm>
          <a:prstGeom prst="rect">
            <a:avLst/>
          </a:prstGeom>
          <a:noFill/>
        </p:spPr>
        <p:txBody>
          <a:bodyPr wrap="square" lIns="45720" tIns="18288" rIns="45720" bIns="18288" anchor="ctr">
            <a:spAutoFit/>
          </a:bodyPr>
          <a:lstStyle/>
          <a:p>
            <a:pPr algn="ctr"/>
            <a:r>
              <a:rPr sz="1300" b="1" dirty="0">
                <a:solidFill>
                  <a:srgbClr val="0F3F7A"/>
                </a:solidFill>
                <a:latin typeface="Consolas"/>
              </a:rPr>
              <a:t>D(</a:t>
            </a:r>
            <a:r>
              <a:rPr sz="1300" b="1" dirty="0" err="1">
                <a:solidFill>
                  <a:srgbClr val="0F3F7A"/>
                </a:solidFill>
                <a:latin typeface="Consolas"/>
              </a:rPr>
              <a:t>i,j</a:t>
            </a:r>
            <a:r>
              <a:rPr sz="1300" b="1" dirty="0">
                <a:solidFill>
                  <a:srgbClr val="0F3F7A"/>
                </a:solidFill>
                <a:latin typeface="Consolas"/>
              </a:rPr>
              <a:t>) = d(</a:t>
            </a:r>
            <a:r>
              <a:rPr sz="1300" b="1" dirty="0" err="1">
                <a:solidFill>
                  <a:srgbClr val="0F3F7A"/>
                </a:solidFill>
                <a:latin typeface="Consolas"/>
              </a:rPr>
              <a:t>aᵢ,b</a:t>
            </a:r>
            <a:r>
              <a:rPr sz="1300" b="1" dirty="0">
                <a:solidFill>
                  <a:srgbClr val="0F3F7A"/>
                </a:solidFill>
                <a:latin typeface="Consolas"/>
              </a:rPr>
              <a:t>ⱼ)  +  min{ D(i−1,j−1),  D(i−1,j),  D(i,j−1) }</a:t>
            </a:r>
          </a:p>
        </p:txBody>
      </p:sp>
      <p:sp>
        <p:nvSpPr>
          <p:cNvPr id="11" name="TextBox 10"/>
          <p:cNvSpPr txBox="1"/>
          <p:nvPr/>
        </p:nvSpPr>
        <p:spPr>
          <a:xfrm>
            <a:off x="274320" y="4370832"/>
            <a:ext cx="5120640" cy="365760"/>
          </a:xfrm>
          <a:prstGeom prst="rect">
            <a:avLst/>
          </a:prstGeom>
          <a:noFill/>
        </p:spPr>
        <p:txBody>
          <a:bodyPr wrap="square" lIns="45720" tIns="18288" rIns="45720" bIns="18288" anchor="t">
            <a:spAutoFit/>
          </a:bodyPr>
          <a:lstStyle/>
          <a:p>
            <a:pPr algn="l"/>
            <a:r>
              <a:rPr sz="1400" b="1">
                <a:solidFill>
                  <a:srgbClr val="0F3F7A"/>
                </a:solidFill>
                <a:latin typeface="Calibri"/>
              </a:rPr>
              <a:t>Score</a:t>
            </a:r>
          </a:p>
        </p:txBody>
      </p:sp>
      <p:sp>
        <p:nvSpPr>
          <p:cNvPr id="12" name="TextBox 11"/>
          <p:cNvSpPr txBox="1"/>
          <p:nvPr/>
        </p:nvSpPr>
        <p:spPr>
          <a:xfrm>
            <a:off x="274320" y="4718304"/>
            <a:ext cx="5120640" cy="292608"/>
          </a:xfrm>
          <a:prstGeom prst="rect">
            <a:avLst/>
          </a:prstGeom>
          <a:noFill/>
        </p:spPr>
        <p:txBody>
          <a:bodyPr wrap="square" lIns="45720" tIns="18288" rIns="45720" bIns="18288" anchor="t">
            <a:spAutoFit/>
          </a:bodyPr>
          <a:lstStyle/>
          <a:p>
            <a:pPr algn="l"/>
            <a:r>
              <a:rPr sz="1200" b="0">
                <a:solidFill>
                  <a:srgbClr val="333333"/>
                </a:solidFill>
                <a:latin typeface="Calibri"/>
              </a:rPr>
              <a:t>Average per-step cost along the optimal path:</a:t>
            </a:r>
          </a:p>
        </p:txBody>
      </p:sp>
      <p:sp>
        <p:nvSpPr>
          <p:cNvPr id="13" name="Rounded Rectangle 12"/>
          <p:cNvSpPr/>
          <p:nvPr/>
        </p:nvSpPr>
        <p:spPr>
          <a:xfrm>
            <a:off x="274320" y="5029200"/>
            <a:ext cx="5120640" cy="411480"/>
          </a:xfrm>
          <a:prstGeom prst="round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4320" y="5029200"/>
            <a:ext cx="5120640" cy="411480"/>
          </a:xfrm>
          <a:prstGeom prst="rect">
            <a:avLst/>
          </a:prstGeom>
          <a:noFill/>
        </p:spPr>
        <p:txBody>
          <a:bodyPr wrap="square" lIns="45720" tIns="18288" rIns="45720" bIns="18288" anchor="ctr">
            <a:spAutoFit/>
          </a:bodyPr>
          <a:lstStyle/>
          <a:p>
            <a:pPr algn="ctr"/>
            <a:r>
              <a:rPr sz="1200" b="1" dirty="0" err="1">
                <a:solidFill>
                  <a:srgbClr val="0F3F7A"/>
                </a:solidFill>
                <a:latin typeface="Consolas"/>
              </a:rPr>
              <a:t>avg_cost</a:t>
            </a:r>
            <a:r>
              <a:rPr sz="1200" b="1" dirty="0">
                <a:solidFill>
                  <a:srgbClr val="0F3F7A"/>
                </a:solidFill>
                <a:latin typeface="Consolas"/>
              </a:rPr>
              <a:t>  =  D(m, n) / L         </a:t>
            </a:r>
            <a:r>
              <a:rPr sz="1200" b="1" dirty="0" err="1">
                <a:solidFill>
                  <a:srgbClr val="0F3F7A"/>
                </a:solidFill>
                <a:latin typeface="Consolas"/>
              </a:rPr>
              <a:t>L</a:t>
            </a:r>
            <a:r>
              <a:rPr sz="1200" b="1" dirty="0">
                <a:solidFill>
                  <a:srgbClr val="0F3F7A"/>
                </a:solidFill>
                <a:latin typeface="Consolas"/>
              </a:rPr>
              <a:t> = path length</a:t>
            </a:r>
          </a:p>
        </p:txBody>
      </p:sp>
      <p:sp>
        <p:nvSpPr>
          <p:cNvPr id="15" name="TextBox 14"/>
          <p:cNvSpPr txBox="1"/>
          <p:nvPr/>
        </p:nvSpPr>
        <p:spPr>
          <a:xfrm>
            <a:off x="274320" y="5532120"/>
            <a:ext cx="5120640" cy="320040"/>
          </a:xfrm>
          <a:prstGeom prst="rect">
            <a:avLst/>
          </a:prstGeom>
          <a:noFill/>
        </p:spPr>
        <p:txBody>
          <a:bodyPr wrap="square" lIns="45720" tIns="18288" rIns="45720" bIns="18288" anchor="t">
            <a:spAutoFit/>
          </a:bodyPr>
          <a:lstStyle/>
          <a:p>
            <a:pPr algn="l"/>
            <a:r>
              <a:rPr sz="1200" b="1">
                <a:solidFill>
                  <a:srgbClr val="0F3F7A"/>
                </a:solidFill>
                <a:latin typeface="Calibri"/>
              </a:rPr>
              <a:t>Local cost — cosine distance (direction, not magnitude):</a:t>
            </a:r>
          </a:p>
        </p:txBody>
      </p:sp>
      <p:sp>
        <p:nvSpPr>
          <p:cNvPr id="16" name="TextBox 15"/>
          <p:cNvSpPr txBox="1"/>
          <p:nvPr/>
        </p:nvSpPr>
        <p:spPr>
          <a:xfrm>
            <a:off x="274320" y="5852160"/>
            <a:ext cx="5120640" cy="384048"/>
          </a:xfrm>
          <a:prstGeom prst="rect">
            <a:avLst/>
          </a:prstGeom>
          <a:noFill/>
        </p:spPr>
        <p:txBody>
          <a:bodyPr wrap="square" lIns="45720" tIns="18288" rIns="45720" bIns="18288" anchor="t">
            <a:spAutoFit/>
          </a:bodyPr>
          <a:lstStyle/>
          <a:p>
            <a:pPr algn="l"/>
            <a:r>
              <a:rPr sz="1200" b="1" dirty="0" err="1">
                <a:solidFill>
                  <a:srgbClr val="333333"/>
                </a:solidFill>
                <a:latin typeface="Consolas"/>
              </a:rPr>
              <a:t>d_cos</a:t>
            </a:r>
            <a:r>
              <a:rPr sz="1200" b="1" dirty="0">
                <a:solidFill>
                  <a:srgbClr val="333333"/>
                </a:solidFill>
                <a:latin typeface="Consolas"/>
              </a:rPr>
              <a:t>(u, v)  =  1  −  (u · v) / (‖u‖ ‖v‖)     ∈  [0, 2]</a:t>
            </a:r>
          </a:p>
        </p:txBody>
      </p:sp>
      <p:sp>
        <p:nvSpPr>
          <p:cNvPr id="17" name="Rectangle 16"/>
          <p:cNvSpPr/>
          <p:nvPr/>
        </p:nvSpPr>
        <p:spPr>
          <a:xfrm>
            <a:off x="5783580" y="1542288"/>
            <a:ext cx="3108960" cy="30906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 name="Rectangle 17"/>
          <p:cNvSpPr/>
          <p:nvPr/>
        </p:nvSpPr>
        <p:spPr>
          <a:xfrm>
            <a:off x="5783580" y="1524000"/>
            <a:ext cx="3108960" cy="9144"/>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783580" y="1524000"/>
            <a:ext cx="9144" cy="3108960"/>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783580" y="2042160"/>
            <a:ext cx="3108960" cy="9144"/>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301739" y="1524000"/>
            <a:ext cx="9144" cy="3108960"/>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783580" y="2560320"/>
            <a:ext cx="3108960" cy="9144"/>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819899" y="1524000"/>
            <a:ext cx="9144" cy="3108960"/>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783580" y="3078480"/>
            <a:ext cx="3108960" cy="9144"/>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38060" y="1524000"/>
            <a:ext cx="9144" cy="3108960"/>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783580" y="3596640"/>
            <a:ext cx="3108960" cy="9144"/>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856220" y="1524000"/>
            <a:ext cx="9144" cy="3108960"/>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783580" y="4114799"/>
            <a:ext cx="3108960" cy="9144"/>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374380" y="1524000"/>
            <a:ext cx="9144" cy="3108960"/>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783580" y="4632960"/>
            <a:ext cx="3108960" cy="9144"/>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883395" y="1533144"/>
            <a:ext cx="9144" cy="3108960"/>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388097" y="4140710"/>
            <a:ext cx="481583" cy="481583"/>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883651" y="3625597"/>
            <a:ext cx="481583" cy="481583"/>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5" name="Rectangle 34"/>
          <p:cNvSpPr/>
          <p:nvPr/>
        </p:nvSpPr>
        <p:spPr>
          <a:xfrm>
            <a:off x="6847332" y="3622548"/>
            <a:ext cx="481583" cy="481583"/>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370064" y="3622547"/>
            <a:ext cx="481583" cy="481583"/>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299228" y="2060448"/>
            <a:ext cx="481583" cy="481583"/>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817645" y="1560576"/>
            <a:ext cx="481583" cy="481583"/>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870446" y="4693920"/>
            <a:ext cx="3108960" cy="274320"/>
          </a:xfrm>
          <a:prstGeom prst="rect">
            <a:avLst/>
          </a:prstGeom>
          <a:noFill/>
        </p:spPr>
        <p:txBody>
          <a:bodyPr wrap="square" lIns="45720" tIns="18288" rIns="45720" bIns="18288" anchor="t">
            <a:spAutoFit/>
          </a:bodyPr>
          <a:lstStyle/>
          <a:p>
            <a:pPr algn="ctr"/>
            <a:r>
              <a:rPr sz="1200" b="1" dirty="0">
                <a:solidFill>
                  <a:srgbClr val="0F3F7A"/>
                </a:solidFill>
                <a:latin typeface="Calibri"/>
              </a:rPr>
              <a:t>patient sequence  →</a:t>
            </a:r>
          </a:p>
        </p:txBody>
      </p:sp>
      <p:sp>
        <p:nvSpPr>
          <p:cNvPr id="43" name="Rounded Rectangle 42"/>
          <p:cNvSpPr/>
          <p:nvPr/>
        </p:nvSpPr>
        <p:spPr>
          <a:xfrm>
            <a:off x="5875019" y="5044440"/>
            <a:ext cx="228600" cy="201168"/>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167628" y="4972812"/>
            <a:ext cx="2743200" cy="274320"/>
          </a:xfrm>
          <a:prstGeom prst="rect">
            <a:avLst/>
          </a:prstGeom>
          <a:noFill/>
        </p:spPr>
        <p:txBody>
          <a:bodyPr wrap="square" lIns="45720" tIns="18288" rIns="45720" bIns="18288" anchor="t">
            <a:spAutoFit/>
          </a:bodyPr>
          <a:lstStyle/>
          <a:p>
            <a:pPr algn="l"/>
            <a:r>
              <a:rPr sz="1200" b="0">
                <a:solidFill>
                  <a:srgbClr val="333333"/>
                </a:solidFill>
                <a:latin typeface="Calibri"/>
              </a:rPr>
              <a:t>=  optimal alignment path</a:t>
            </a:r>
          </a:p>
        </p:txBody>
      </p:sp>
      <p:sp>
        <p:nvSpPr>
          <p:cNvPr id="45" name="TextBox 44"/>
          <p:cNvSpPr txBox="1"/>
          <p:nvPr/>
        </p:nvSpPr>
        <p:spPr>
          <a:xfrm>
            <a:off x="5783580" y="5410200"/>
            <a:ext cx="3108960" cy="274320"/>
          </a:xfrm>
          <a:prstGeom prst="rect">
            <a:avLst/>
          </a:prstGeom>
          <a:noFill/>
        </p:spPr>
        <p:txBody>
          <a:bodyPr wrap="square" lIns="45720" tIns="18288" rIns="45720" bIns="18288" anchor="t">
            <a:spAutoFit/>
          </a:bodyPr>
          <a:lstStyle/>
          <a:p>
            <a:pPr algn="ctr"/>
            <a:r>
              <a:rPr sz="1200" b="0">
                <a:solidFill>
                  <a:srgbClr val="333333"/>
                </a:solidFill>
                <a:latin typeface="Calibri"/>
              </a:rPr>
              <a:t>each cell D(i, j) depends on its three neighbours</a:t>
            </a:r>
          </a:p>
        </p:txBody>
      </p:sp>
      <p:sp>
        <p:nvSpPr>
          <p:cNvPr id="48" name="Rectangle 47">
            <a:extLst>
              <a:ext uri="{FF2B5EF4-FFF2-40B4-BE49-F238E27FC236}">
                <a16:creationId xmlns:a16="http://schemas.microsoft.com/office/drawing/2014/main" id="{15EEDFB7-F9ED-A255-C8F6-F1C7C579B0B7}"/>
              </a:ext>
            </a:extLst>
          </p:cNvPr>
          <p:cNvSpPr/>
          <p:nvPr/>
        </p:nvSpPr>
        <p:spPr>
          <a:xfrm>
            <a:off x="6306310" y="2575654"/>
            <a:ext cx="481583" cy="481583"/>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a:extLst>
              <a:ext uri="{FF2B5EF4-FFF2-40B4-BE49-F238E27FC236}">
                <a16:creationId xmlns:a16="http://schemas.microsoft.com/office/drawing/2014/main" id="{F9003A9A-F6AF-0773-E97E-41BA7C1AFD9E}"/>
              </a:ext>
            </a:extLst>
          </p:cNvPr>
          <p:cNvSpPr/>
          <p:nvPr/>
        </p:nvSpPr>
        <p:spPr>
          <a:xfrm>
            <a:off x="6306311" y="3087717"/>
            <a:ext cx="481583" cy="481583"/>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a:extLst>
              <a:ext uri="{FF2B5EF4-FFF2-40B4-BE49-F238E27FC236}">
                <a16:creationId xmlns:a16="http://schemas.microsoft.com/office/drawing/2014/main" id="{F07D74F3-F4A6-677A-9C6B-64464783E3E0}"/>
              </a:ext>
            </a:extLst>
          </p:cNvPr>
          <p:cNvSpPr txBox="1"/>
          <p:nvPr/>
        </p:nvSpPr>
        <p:spPr>
          <a:xfrm rot="5400000">
            <a:off x="4076699" y="2728412"/>
            <a:ext cx="3108960" cy="221599"/>
          </a:xfrm>
          <a:prstGeom prst="rect">
            <a:avLst/>
          </a:prstGeom>
          <a:noFill/>
        </p:spPr>
        <p:txBody>
          <a:bodyPr wrap="square" lIns="45720" tIns="18288" rIns="45720" bIns="18288" anchor="t">
            <a:spAutoFit/>
          </a:bodyPr>
          <a:lstStyle/>
          <a:p>
            <a:pPr algn="ctr"/>
            <a:r>
              <a:rPr lang="en-IN" sz="1200" b="1" dirty="0">
                <a:solidFill>
                  <a:srgbClr val="0F3F7A"/>
                </a:solidFill>
                <a:latin typeface="Calibri"/>
              </a:rPr>
              <a:t>reference</a:t>
            </a:r>
            <a:r>
              <a:rPr sz="1200" b="1" dirty="0">
                <a:solidFill>
                  <a:srgbClr val="0F3F7A"/>
                </a:solidFill>
                <a:latin typeface="Calibri"/>
              </a:rPr>
              <a:t> sequence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400" b="1">
                <a:solidFill>
                  <a:srgbClr val="0F3F7A"/>
                </a:solidFill>
                <a:latin typeface="Calibri"/>
              </a:rPr>
              <a:t>Evaluation — Articulation Score</a:t>
            </a:r>
          </a:p>
        </p:txBody>
      </p:sp>
      <p:sp>
        <p:nvSpPr>
          <p:cNvPr id="3" name="Content Placeholder 2"/>
          <p:cNvSpPr>
            <a:spLocks noGrp="1"/>
          </p:cNvSpPr>
          <p:nvPr>
            <p:ph sz="half" idx="2"/>
          </p:nvPr>
        </p:nvSpPr>
        <p:spPr/>
        <p:txBody>
          <a:bodyPr/>
          <a:lstStyle/>
          <a:p>
            <a:endParaRPr dirty="0"/>
          </a:p>
        </p:txBody>
      </p:sp>
      <p:sp>
        <p:nvSpPr>
          <p:cNvPr id="4" name="TextBox 3"/>
          <p:cNvSpPr txBox="1"/>
          <p:nvPr/>
        </p:nvSpPr>
        <p:spPr>
          <a:xfrm>
            <a:off x="274320" y="1188720"/>
            <a:ext cx="8595360" cy="457200"/>
          </a:xfrm>
          <a:prstGeom prst="rect">
            <a:avLst/>
          </a:prstGeom>
          <a:noFill/>
        </p:spPr>
        <p:txBody>
          <a:bodyPr wrap="square" lIns="45720" tIns="18288" rIns="45720" bIns="18288" anchor="t">
            <a:spAutoFit/>
          </a:bodyPr>
          <a:lstStyle/>
          <a:p>
            <a:pPr algn="l"/>
            <a:r>
              <a:rPr sz="1400" b="0" dirty="0">
                <a:solidFill>
                  <a:srgbClr val="333333"/>
                </a:solidFill>
                <a:latin typeface="Calibri"/>
              </a:rPr>
              <a:t>Compares the patient's lip motion against the reference using </a:t>
            </a:r>
            <a:r>
              <a:rPr sz="1400" b="0" dirty="0" err="1">
                <a:solidFill>
                  <a:srgbClr val="333333"/>
                </a:solidFill>
                <a:latin typeface="Calibri"/>
              </a:rPr>
              <a:t>LivePortrait's</a:t>
            </a:r>
            <a:r>
              <a:rPr sz="1400" b="0" dirty="0">
                <a:solidFill>
                  <a:srgbClr val="333333"/>
                </a:solidFill>
                <a:latin typeface="Calibri"/>
              </a:rPr>
              <a:t> own representation.</a:t>
            </a:r>
          </a:p>
        </p:txBody>
      </p:sp>
      <p:sp>
        <p:nvSpPr>
          <p:cNvPr id="5" name="Rounded Rectangle 4"/>
          <p:cNvSpPr/>
          <p:nvPr/>
        </p:nvSpPr>
        <p:spPr>
          <a:xfrm>
            <a:off x="274320" y="1920240"/>
            <a:ext cx="1371600" cy="777240"/>
          </a:xfrm>
          <a:prstGeom prst="roundRect">
            <a:avLst/>
          </a:prstGeom>
          <a:solidFill>
            <a:srgbClr val="0F3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1920240"/>
            <a:ext cx="1371600" cy="777240"/>
          </a:xfrm>
          <a:prstGeom prst="rect">
            <a:avLst/>
          </a:prstGeom>
          <a:noFill/>
        </p:spPr>
        <p:txBody>
          <a:bodyPr wrap="square" lIns="45720" tIns="18288" rIns="45720" bIns="18288" anchor="ctr">
            <a:spAutoFit/>
          </a:bodyPr>
          <a:lstStyle/>
          <a:p>
            <a:pPr algn="ctr"/>
            <a:r>
              <a:rPr sz="1200" b="1">
                <a:solidFill>
                  <a:srgbClr val="FFFFFF"/>
                </a:solidFill>
                <a:latin typeface="Calibri"/>
              </a:rPr>
              <a:t>Crop face
(LivePortrait)</a:t>
            </a:r>
          </a:p>
        </p:txBody>
      </p:sp>
      <p:sp>
        <p:nvSpPr>
          <p:cNvPr id="7" name="Rounded Rectangle 6"/>
          <p:cNvSpPr/>
          <p:nvPr/>
        </p:nvSpPr>
        <p:spPr>
          <a:xfrm>
            <a:off x="1783080" y="1920240"/>
            <a:ext cx="1554480" cy="777240"/>
          </a:xfrm>
          <a:prstGeom prst="roundRect">
            <a:avLst/>
          </a:prstGeom>
          <a:solidFill>
            <a:srgbClr val="1E6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783080" y="2013394"/>
            <a:ext cx="1554480" cy="590931"/>
          </a:xfrm>
          <a:prstGeom prst="rect">
            <a:avLst/>
          </a:prstGeom>
          <a:noFill/>
        </p:spPr>
        <p:txBody>
          <a:bodyPr wrap="square" lIns="45720" tIns="18288" rIns="45720" bIns="18288" anchor="ctr">
            <a:spAutoFit/>
          </a:bodyPr>
          <a:lstStyle/>
          <a:p>
            <a:pPr algn="ctr"/>
            <a:r>
              <a:rPr sz="1200" b="1" dirty="0">
                <a:solidFill>
                  <a:srgbClr val="FFFFFF"/>
                </a:solidFill>
                <a:latin typeface="Calibri"/>
              </a:rPr>
              <a:t>Extract
expression code
</a:t>
            </a:r>
            <a:r>
              <a:rPr lang="el-GR" sz="1200" b="1" dirty="0">
                <a:solidFill>
                  <a:srgbClr val="333333"/>
                </a:solidFill>
                <a:latin typeface="Calibri"/>
              </a:rPr>
              <a:t> </a:t>
            </a:r>
            <a:r>
              <a:rPr lang="el-GR" sz="1200" b="1" dirty="0">
                <a:solidFill>
                  <a:schemeClr val="bg1"/>
                </a:solidFill>
                <a:latin typeface="Calibri"/>
              </a:rPr>
              <a:t>δ</a:t>
            </a:r>
            <a:r>
              <a:rPr lang="el-GR" sz="1200" b="1" dirty="0">
                <a:solidFill>
                  <a:srgbClr val="333333"/>
                </a:solidFill>
                <a:latin typeface="Calibri"/>
              </a:rPr>
              <a:t> </a:t>
            </a:r>
            <a:r>
              <a:rPr lang="en-IN" sz="1200" b="1" dirty="0">
                <a:solidFill>
                  <a:schemeClr val="bg1"/>
                </a:solidFill>
                <a:latin typeface="Calibri"/>
              </a:rPr>
              <a:t>=</a:t>
            </a:r>
            <a:r>
              <a:rPr lang="en-IN" sz="1200" b="1" dirty="0">
                <a:solidFill>
                  <a:srgbClr val="333333"/>
                </a:solidFill>
                <a:latin typeface="Calibri"/>
              </a:rPr>
              <a:t> </a:t>
            </a:r>
            <a:r>
              <a:rPr sz="1200" b="1" dirty="0" err="1">
                <a:solidFill>
                  <a:srgbClr val="FFFFFF"/>
                </a:solidFill>
                <a:latin typeface="Calibri"/>
              </a:rPr>
              <a:t>kp_info</a:t>
            </a:r>
            <a:r>
              <a:rPr sz="1200" b="1" dirty="0">
                <a:solidFill>
                  <a:srgbClr val="FFFFFF"/>
                </a:solidFill>
                <a:latin typeface="Calibri"/>
              </a:rPr>
              <a:t>['exp']</a:t>
            </a:r>
          </a:p>
        </p:txBody>
      </p:sp>
      <p:sp>
        <p:nvSpPr>
          <p:cNvPr id="9" name="Rounded Rectangle 8"/>
          <p:cNvSpPr/>
          <p:nvPr/>
        </p:nvSpPr>
        <p:spPr>
          <a:xfrm>
            <a:off x="3474720" y="1920240"/>
            <a:ext cx="1463040" cy="777240"/>
          </a:xfrm>
          <a:prstGeom prst="roundRect">
            <a:avLst/>
          </a:prstGeom>
          <a:solidFill>
            <a:srgbClr val="1E6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0" y="1920240"/>
            <a:ext cx="1463040" cy="777240"/>
          </a:xfrm>
          <a:prstGeom prst="rect">
            <a:avLst/>
          </a:prstGeom>
          <a:noFill/>
        </p:spPr>
        <p:txBody>
          <a:bodyPr wrap="square" lIns="45720" tIns="18288" rIns="45720" bIns="18288" anchor="ctr">
            <a:spAutoFit/>
          </a:bodyPr>
          <a:lstStyle/>
          <a:p>
            <a:pPr algn="ctr"/>
            <a:r>
              <a:rPr sz="1200" b="1">
                <a:solidFill>
                  <a:srgbClr val="FFFFFF"/>
                </a:solidFill>
                <a:latin typeface="Calibri"/>
              </a:rPr>
              <a:t>Slice lip
indices
[6,12,14,17,19,20]</a:t>
            </a:r>
          </a:p>
        </p:txBody>
      </p:sp>
      <p:sp>
        <p:nvSpPr>
          <p:cNvPr id="11" name="Rounded Rectangle 10"/>
          <p:cNvSpPr/>
          <p:nvPr/>
        </p:nvSpPr>
        <p:spPr>
          <a:xfrm>
            <a:off x="5074920" y="1920240"/>
            <a:ext cx="1463040" cy="777240"/>
          </a:xfrm>
          <a:prstGeom prst="roundRect">
            <a:avLst/>
          </a:prstGeom>
          <a:solidFill>
            <a:srgbClr val="1E6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74920" y="1920240"/>
            <a:ext cx="1463040" cy="777240"/>
          </a:xfrm>
          <a:prstGeom prst="rect">
            <a:avLst/>
          </a:prstGeom>
          <a:noFill/>
        </p:spPr>
        <p:txBody>
          <a:bodyPr wrap="square" lIns="45720" tIns="18288" rIns="45720" bIns="18288" anchor="ctr">
            <a:spAutoFit/>
          </a:bodyPr>
          <a:lstStyle/>
          <a:p>
            <a:pPr algn="ctr"/>
            <a:r>
              <a:rPr sz="1200" b="1">
                <a:solidFill>
                  <a:srgbClr val="FFFFFF"/>
                </a:solidFill>
                <a:latin typeface="Calibri"/>
              </a:rPr>
              <a:t>Zero-centre
+ scale
per video</a:t>
            </a:r>
          </a:p>
        </p:txBody>
      </p:sp>
      <p:sp>
        <p:nvSpPr>
          <p:cNvPr id="13" name="Rounded Rectangle 12"/>
          <p:cNvSpPr/>
          <p:nvPr/>
        </p:nvSpPr>
        <p:spPr>
          <a:xfrm>
            <a:off x="6675120" y="1920240"/>
            <a:ext cx="1417320" cy="777240"/>
          </a:xfrm>
          <a:prstGeom prst="roundRect">
            <a:avLst/>
          </a:prstGeom>
          <a:solidFill>
            <a:srgbClr val="0F3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75120" y="1920240"/>
            <a:ext cx="1417320" cy="777240"/>
          </a:xfrm>
          <a:prstGeom prst="rect">
            <a:avLst/>
          </a:prstGeom>
          <a:noFill/>
        </p:spPr>
        <p:txBody>
          <a:bodyPr wrap="square" lIns="45720" tIns="18288" rIns="45720" bIns="18288" anchor="ctr">
            <a:spAutoFit/>
          </a:bodyPr>
          <a:lstStyle/>
          <a:p>
            <a:pPr algn="ctr"/>
            <a:r>
              <a:rPr sz="1200" b="1">
                <a:solidFill>
                  <a:srgbClr val="FFFFFF"/>
                </a:solidFill>
                <a:latin typeface="Calibri"/>
              </a:rPr>
              <a:t>FastDTW
(cosine)</a:t>
            </a:r>
          </a:p>
        </p:txBody>
      </p:sp>
      <p:sp>
        <p:nvSpPr>
          <p:cNvPr id="15" name="Rounded Rectangle 14"/>
          <p:cNvSpPr/>
          <p:nvPr/>
        </p:nvSpPr>
        <p:spPr>
          <a:xfrm>
            <a:off x="8183879" y="1920240"/>
            <a:ext cx="685800" cy="77724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83879" y="1920240"/>
            <a:ext cx="685800" cy="777240"/>
          </a:xfrm>
          <a:prstGeom prst="rect">
            <a:avLst/>
          </a:prstGeom>
          <a:noFill/>
        </p:spPr>
        <p:txBody>
          <a:bodyPr wrap="square" lIns="45720" tIns="18288" rIns="45720" bIns="18288" anchor="ctr">
            <a:spAutoFit/>
          </a:bodyPr>
          <a:lstStyle/>
          <a:p>
            <a:pPr algn="ctr"/>
            <a:r>
              <a:rPr sz="1200" b="1">
                <a:solidFill>
                  <a:srgbClr val="FFFFFF"/>
                </a:solidFill>
                <a:latin typeface="Calibri"/>
              </a:rPr>
              <a:t>Score
0–100</a:t>
            </a:r>
          </a:p>
        </p:txBody>
      </p:sp>
      <p:sp>
        <p:nvSpPr>
          <p:cNvPr id="17" name="Rounded Rectangle 16"/>
          <p:cNvSpPr/>
          <p:nvPr/>
        </p:nvSpPr>
        <p:spPr>
          <a:xfrm>
            <a:off x="274320" y="3017520"/>
            <a:ext cx="8595360" cy="914400"/>
          </a:xfrm>
          <a:prstGeom prst="round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3108960"/>
            <a:ext cx="8229600" cy="365760"/>
          </a:xfrm>
          <a:prstGeom prst="rect">
            <a:avLst/>
          </a:prstGeom>
          <a:noFill/>
        </p:spPr>
        <p:txBody>
          <a:bodyPr wrap="square" lIns="45720" tIns="18288" rIns="45720" bIns="18288" anchor="t">
            <a:spAutoFit/>
          </a:bodyPr>
          <a:lstStyle/>
          <a:p>
            <a:pPr algn="l"/>
            <a:r>
              <a:rPr sz="1400" b="1">
                <a:solidFill>
                  <a:srgbClr val="0F3F7A"/>
                </a:solidFill>
                <a:latin typeface="Calibri"/>
              </a:rPr>
              <a:t>Scoring rule:</a:t>
            </a:r>
          </a:p>
        </p:txBody>
      </p:sp>
      <p:sp>
        <p:nvSpPr>
          <p:cNvPr id="19" name="TextBox 18"/>
          <p:cNvSpPr txBox="1"/>
          <p:nvPr/>
        </p:nvSpPr>
        <p:spPr>
          <a:xfrm>
            <a:off x="457200" y="3456432"/>
            <a:ext cx="8229600" cy="457200"/>
          </a:xfrm>
          <a:prstGeom prst="rect">
            <a:avLst/>
          </a:prstGeom>
          <a:noFill/>
        </p:spPr>
        <p:txBody>
          <a:bodyPr wrap="square" lIns="45720" tIns="18288" rIns="45720" bIns="18288" anchor="t">
            <a:spAutoFit/>
          </a:bodyPr>
          <a:lstStyle/>
          <a:p>
            <a:pPr algn="l"/>
            <a:r>
              <a:rPr sz="1400" b="0" dirty="0" err="1">
                <a:solidFill>
                  <a:srgbClr val="333333"/>
                </a:solidFill>
                <a:latin typeface="Consolas"/>
              </a:rPr>
              <a:t>articulation_score</a:t>
            </a:r>
            <a:r>
              <a:rPr sz="1400" b="0" dirty="0">
                <a:solidFill>
                  <a:srgbClr val="333333"/>
                </a:solidFill>
                <a:latin typeface="Consolas"/>
              </a:rPr>
              <a:t> = max( 0,  100 − </a:t>
            </a:r>
            <a:r>
              <a:rPr sz="1400" b="0" dirty="0" err="1">
                <a:solidFill>
                  <a:srgbClr val="333333"/>
                </a:solidFill>
                <a:latin typeface="Consolas"/>
              </a:rPr>
              <a:t>avg_DTW_cost</a:t>
            </a:r>
            <a:r>
              <a:rPr sz="1400" b="0" dirty="0">
                <a:solidFill>
                  <a:srgbClr val="333333"/>
                </a:solidFill>
                <a:latin typeface="Consolas"/>
              </a:rPr>
              <a:t> × 50 )       (cosine cost ∈ [0, 2])</a:t>
            </a:r>
          </a:p>
        </p:txBody>
      </p:sp>
      <p:sp>
        <p:nvSpPr>
          <p:cNvPr id="20" name="TextBox 19"/>
          <p:cNvSpPr txBox="1"/>
          <p:nvPr/>
        </p:nvSpPr>
        <p:spPr>
          <a:xfrm>
            <a:off x="274320" y="4114800"/>
            <a:ext cx="8595360" cy="365760"/>
          </a:xfrm>
          <a:prstGeom prst="rect">
            <a:avLst/>
          </a:prstGeom>
          <a:noFill/>
        </p:spPr>
        <p:txBody>
          <a:bodyPr wrap="square" lIns="45720" tIns="18288" rIns="45720" bIns="18288" anchor="t">
            <a:spAutoFit/>
          </a:bodyPr>
          <a:lstStyle/>
          <a:p>
            <a:pPr algn="l"/>
            <a:r>
              <a:rPr sz="1400" b="1">
                <a:solidFill>
                  <a:srgbClr val="0F3F7A"/>
                </a:solidFill>
                <a:latin typeface="Calibri"/>
              </a:rPr>
              <a:t>What this score captures:</a:t>
            </a:r>
          </a:p>
        </p:txBody>
      </p:sp>
      <p:sp>
        <p:nvSpPr>
          <p:cNvPr id="21" name="TextBox 20"/>
          <p:cNvSpPr txBox="1"/>
          <p:nvPr/>
        </p:nvSpPr>
        <p:spPr>
          <a:xfrm>
            <a:off x="457200" y="4526280"/>
            <a:ext cx="8412480" cy="897682"/>
          </a:xfrm>
          <a:prstGeom prst="rect">
            <a:avLst/>
          </a:prstGeom>
          <a:noFill/>
        </p:spPr>
        <p:txBody>
          <a:bodyPr wrap="square" lIns="45720" rIns="45720">
            <a:spAutoFit/>
          </a:bodyPr>
          <a:lstStyle/>
          <a:p>
            <a:pPr algn="l">
              <a:spcAft>
                <a:spcPts val="800"/>
              </a:spcAft>
            </a:pPr>
            <a:r>
              <a:rPr sz="1300" dirty="0">
                <a:solidFill>
                  <a:srgbClr val="333333"/>
                </a:solidFill>
                <a:latin typeface="Calibri"/>
              </a:rPr>
              <a:t>•  Lip-motion signal comes from </a:t>
            </a:r>
            <a:r>
              <a:rPr sz="1300" dirty="0" err="1">
                <a:solidFill>
                  <a:srgbClr val="333333"/>
                </a:solidFill>
                <a:latin typeface="Calibri"/>
              </a:rPr>
              <a:t>LivePortrait's</a:t>
            </a:r>
            <a:r>
              <a:rPr sz="1300" dirty="0">
                <a:solidFill>
                  <a:srgbClr val="333333"/>
                </a:solidFill>
                <a:latin typeface="Calibri"/>
              </a:rPr>
              <a:t> own expression coefficients — directly aligned with the model's control path</a:t>
            </a:r>
          </a:p>
          <a:p>
            <a:pPr algn="l">
              <a:spcAft>
                <a:spcPts val="800"/>
              </a:spcAft>
            </a:pPr>
            <a:r>
              <a:rPr sz="1300" dirty="0">
                <a:solidFill>
                  <a:srgbClr val="333333"/>
                </a:solidFill>
                <a:latin typeface="Calibri"/>
              </a:rPr>
              <a:t>•  Zero-</a:t>
            </a:r>
            <a:r>
              <a:rPr sz="1300" dirty="0" err="1">
                <a:solidFill>
                  <a:srgbClr val="333333"/>
                </a:solidFill>
                <a:latin typeface="Calibri"/>
              </a:rPr>
              <a:t>centre</a:t>
            </a:r>
            <a:r>
              <a:rPr sz="1300" dirty="0">
                <a:solidFill>
                  <a:srgbClr val="333333"/>
                </a:solidFill>
                <a:latin typeface="Calibri"/>
              </a:rPr>
              <a:t> + per-video scaling removes resting-face bias and makes the score invariant to face size</a:t>
            </a:r>
          </a:p>
          <a:p>
            <a:pPr algn="l">
              <a:spcAft>
                <a:spcPts val="800"/>
              </a:spcAft>
            </a:pPr>
            <a:r>
              <a:rPr sz="1300" dirty="0">
                <a:solidFill>
                  <a:srgbClr val="333333"/>
                </a:solidFill>
                <a:latin typeface="Calibri"/>
              </a:rPr>
              <a:t>•  DTW alignment is the </a:t>
            </a:r>
            <a:r>
              <a:rPr sz="1300" dirty="0" err="1">
                <a:solidFill>
                  <a:srgbClr val="333333"/>
                </a:solidFill>
                <a:latin typeface="Calibri"/>
              </a:rPr>
              <a:t>FastDTW</a:t>
            </a:r>
            <a:r>
              <a:rPr sz="1300" dirty="0">
                <a:solidFill>
                  <a:srgbClr val="333333"/>
                </a:solidFill>
                <a:latin typeface="Calibri"/>
              </a:rPr>
              <a:t> configuration — cosine distance, no global constraint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400" b="1">
                <a:solidFill>
                  <a:srgbClr val="0F3F7A"/>
                </a:solidFill>
                <a:latin typeface="Calibri"/>
              </a:rPr>
              <a:t>Evaluation — Two Dialogue Accuracy Methods</a:t>
            </a:r>
          </a:p>
        </p:txBody>
      </p:sp>
      <p:sp>
        <p:nvSpPr>
          <p:cNvPr id="3" name="Text Placeholder 2"/>
          <p:cNvSpPr>
            <a:spLocks noGrp="1"/>
          </p:cNvSpPr>
          <p:nvPr>
            <p:ph type="body" idx="1"/>
          </p:nvPr>
        </p:nvSpPr>
        <p:spPr/>
        <p:txBody>
          <a:bodyPr/>
          <a:lstStyle/>
          <a:p>
            <a:pPr algn="ctr"/>
            <a:r>
              <a:rPr sz="1600" b="1">
                <a:solidFill>
                  <a:srgbClr val="0F3F7A"/>
                </a:solidFill>
                <a:latin typeface="Calibri"/>
              </a:rPr>
              <a:t>Acoustic  (ContentVec + FastDTW)</a:t>
            </a:r>
          </a:p>
        </p:txBody>
      </p:sp>
      <p:sp>
        <p:nvSpPr>
          <p:cNvPr id="4" name="Content Placeholder 3"/>
          <p:cNvSpPr>
            <a:spLocks noGrp="1"/>
          </p:cNvSpPr>
          <p:nvPr>
            <p:ph sz="half" idx="2"/>
          </p:nvPr>
        </p:nvSpPr>
        <p:spPr>
          <a:xfrm>
            <a:off x="180654" y="1613043"/>
            <a:ext cx="4288604" cy="1975977"/>
          </a:xfrm>
        </p:spPr>
        <p:txBody>
          <a:bodyPr wrap="square"/>
          <a:lstStyle/>
          <a:p>
            <a:pPr marL="0" indent="0" algn="l">
              <a:spcAft>
                <a:spcPts val="800"/>
              </a:spcAft>
              <a:buNone/>
            </a:pPr>
            <a:r>
              <a:rPr sz="1300" dirty="0">
                <a:solidFill>
                  <a:srgbClr val="333333"/>
                </a:solidFill>
                <a:latin typeface="Calibri"/>
              </a:rPr>
              <a:t>• </a:t>
            </a:r>
            <a:r>
              <a:rPr sz="1300" dirty="0" err="1">
                <a:solidFill>
                  <a:srgbClr val="333333"/>
                </a:solidFill>
                <a:latin typeface="Calibri"/>
              </a:rPr>
              <a:t>silero-vad</a:t>
            </a:r>
            <a:r>
              <a:rPr sz="1300" dirty="0">
                <a:solidFill>
                  <a:srgbClr val="333333"/>
                </a:solidFill>
                <a:latin typeface="Calibri"/>
              </a:rPr>
              <a:t> strips silence</a:t>
            </a:r>
          </a:p>
          <a:p>
            <a:pPr marL="0" indent="0" algn="l">
              <a:spcAft>
                <a:spcPts val="800"/>
              </a:spcAft>
              <a:buNone/>
            </a:pPr>
            <a:r>
              <a:rPr sz="1300" dirty="0">
                <a:solidFill>
                  <a:srgbClr val="333333"/>
                </a:solidFill>
                <a:latin typeface="Calibri"/>
              </a:rPr>
              <a:t>•  ContentVec-768 frame-level embeddings</a:t>
            </a:r>
          </a:p>
          <a:p>
            <a:pPr marL="0" indent="0" algn="l">
              <a:spcAft>
                <a:spcPts val="800"/>
              </a:spcAft>
              <a:buNone/>
            </a:pPr>
            <a:r>
              <a:rPr sz="1300" dirty="0">
                <a:solidFill>
                  <a:srgbClr val="333333"/>
                </a:solidFill>
                <a:latin typeface="Calibri"/>
              </a:rPr>
              <a:t>•  </a:t>
            </a:r>
            <a:r>
              <a:rPr sz="1300" dirty="0" err="1">
                <a:solidFill>
                  <a:srgbClr val="333333"/>
                </a:solidFill>
                <a:latin typeface="Calibri"/>
              </a:rPr>
              <a:t>FastDTW</a:t>
            </a:r>
            <a:r>
              <a:rPr sz="1300" dirty="0">
                <a:solidFill>
                  <a:srgbClr val="333333"/>
                </a:solidFill>
                <a:latin typeface="Calibri"/>
              </a:rPr>
              <a:t> alignment with cosine distance</a:t>
            </a:r>
          </a:p>
          <a:p>
            <a:pPr marL="0" indent="0" algn="l">
              <a:spcAft>
                <a:spcPts val="800"/>
              </a:spcAft>
              <a:buNone/>
            </a:pPr>
            <a:r>
              <a:rPr sz="1300" dirty="0">
                <a:solidFill>
                  <a:srgbClr val="333333"/>
                </a:solidFill>
                <a:latin typeface="Calibri"/>
              </a:rPr>
              <a:t>•  Score map: 0 → 100, 1 → 50, 2 → 0</a:t>
            </a:r>
          </a:p>
          <a:p>
            <a:pPr marL="0" indent="0" algn="l">
              <a:spcAft>
                <a:spcPts val="800"/>
              </a:spcAft>
              <a:buNone/>
            </a:pPr>
            <a:r>
              <a:rPr sz="1300" dirty="0">
                <a:solidFill>
                  <a:srgbClr val="333333"/>
                </a:solidFill>
                <a:latin typeface="Calibri"/>
              </a:rPr>
              <a:t>•  Captures phonetic / acoustic similarity</a:t>
            </a:r>
          </a:p>
        </p:txBody>
      </p:sp>
      <p:sp>
        <p:nvSpPr>
          <p:cNvPr id="5" name="Text Placeholder 4"/>
          <p:cNvSpPr>
            <a:spLocks noGrp="1"/>
          </p:cNvSpPr>
          <p:nvPr>
            <p:ph type="body" sz="quarter" idx="3"/>
          </p:nvPr>
        </p:nvSpPr>
        <p:spPr/>
        <p:txBody>
          <a:bodyPr/>
          <a:lstStyle/>
          <a:p>
            <a:pPr algn="ctr"/>
            <a:r>
              <a:rPr sz="1600" b="1">
                <a:solidFill>
                  <a:srgbClr val="0F766E"/>
                </a:solidFill>
                <a:latin typeface="Calibri"/>
              </a:rPr>
              <a:t>Transcript  (Whisper + WER)</a:t>
            </a:r>
          </a:p>
        </p:txBody>
      </p:sp>
      <p:sp>
        <p:nvSpPr>
          <p:cNvPr id="6" name="Content Placeholder 5"/>
          <p:cNvSpPr>
            <a:spLocks noGrp="1"/>
          </p:cNvSpPr>
          <p:nvPr>
            <p:ph sz="quarter" idx="4"/>
          </p:nvPr>
        </p:nvSpPr>
        <p:spPr>
          <a:xfrm>
            <a:off x="4645025" y="1613043"/>
            <a:ext cx="4242121" cy="1815957"/>
          </a:xfrm>
        </p:spPr>
        <p:txBody>
          <a:bodyPr wrap="square"/>
          <a:lstStyle/>
          <a:p>
            <a:pPr marL="0" indent="0" algn="l">
              <a:spcAft>
                <a:spcPts val="800"/>
              </a:spcAft>
              <a:buNone/>
            </a:pPr>
            <a:r>
              <a:rPr sz="1300" dirty="0">
                <a:solidFill>
                  <a:srgbClr val="333333"/>
                </a:solidFill>
                <a:latin typeface="Calibri"/>
              </a:rPr>
              <a:t>•  Whisper transcribes both clips</a:t>
            </a:r>
          </a:p>
          <a:p>
            <a:pPr marL="0" indent="0" algn="l">
              <a:spcAft>
                <a:spcPts val="800"/>
              </a:spcAft>
              <a:buNone/>
            </a:pPr>
            <a:r>
              <a:rPr sz="1300" dirty="0">
                <a:solidFill>
                  <a:srgbClr val="333333"/>
                </a:solidFill>
                <a:latin typeface="Calibri"/>
              </a:rPr>
              <a:t>•  Word-level </a:t>
            </a:r>
            <a:r>
              <a:rPr sz="1300" dirty="0" err="1">
                <a:solidFill>
                  <a:srgbClr val="333333"/>
                </a:solidFill>
                <a:latin typeface="Calibri"/>
              </a:rPr>
              <a:t>Levenshtein</a:t>
            </a:r>
            <a:r>
              <a:rPr sz="1300" dirty="0">
                <a:solidFill>
                  <a:srgbClr val="333333"/>
                </a:solidFill>
                <a:latin typeface="Calibri"/>
              </a:rPr>
              <a:t> WER</a:t>
            </a:r>
          </a:p>
          <a:p>
            <a:pPr marL="0" indent="0" algn="l">
              <a:spcAft>
                <a:spcPts val="800"/>
              </a:spcAft>
              <a:buNone/>
            </a:pPr>
            <a:r>
              <a:rPr sz="1300" dirty="0">
                <a:solidFill>
                  <a:srgbClr val="333333"/>
                </a:solidFill>
                <a:latin typeface="Calibri"/>
              </a:rPr>
              <a:t>•  Score = (1 − WER) × 100</a:t>
            </a:r>
          </a:p>
          <a:p>
            <a:pPr marL="0" indent="0" algn="l">
              <a:spcAft>
                <a:spcPts val="800"/>
              </a:spcAft>
              <a:buNone/>
            </a:pPr>
            <a:r>
              <a:rPr sz="1300" dirty="0">
                <a:solidFill>
                  <a:srgbClr val="333333"/>
                </a:solidFill>
                <a:latin typeface="Calibri"/>
              </a:rPr>
              <a:t>•  Catches outright wrong content</a:t>
            </a:r>
          </a:p>
        </p:txBody>
      </p:sp>
      <p:graphicFrame>
        <p:nvGraphicFramePr>
          <p:cNvPr id="9" name="Table 8">
            <a:extLst>
              <a:ext uri="{FF2B5EF4-FFF2-40B4-BE49-F238E27FC236}">
                <a16:creationId xmlns:a16="http://schemas.microsoft.com/office/drawing/2014/main" id="{7BEA57ED-0B00-1B76-E68F-5D769A9AED1C}"/>
              </a:ext>
            </a:extLst>
          </p:cNvPr>
          <p:cNvGraphicFramePr>
            <a:graphicFrameLocks noGrp="1"/>
          </p:cNvGraphicFramePr>
          <p:nvPr>
            <p:extLst>
              <p:ext uri="{D42A27DB-BD31-4B8C-83A1-F6EECF244321}">
                <p14:modId xmlns:p14="http://schemas.microsoft.com/office/powerpoint/2010/main" val="998851476"/>
              </p:ext>
            </p:extLst>
          </p:nvPr>
        </p:nvGraphicFramePr>
        <p:xfrm>
          <a:off x="1636591" y="3631610"/>
          <a:ext cx="5715933" cy="2722533"/>
        </p:xfrm>
        <a:graphic>
          <a:graphicData uri="http://schemas.openxmlformats.org/drawingml/2006/table">
            <a:tbl>
              <a:tblPr firstRow="1" bandRow="1">
                <a:tableStyleId>{5C22544A-7EE6-4342-B048-85BDC9FD1C3A}</a:tableStyleId>
              </a:tblPr>
              <a:tblGrid>
                <a:gridCol w="1905311">
                  <a:extLst>
                    <a:ext uri="{9D8B030D-6E8A-4147-A177-3AD203B41FA5}">
                      <a16:colId xmlns:a16="http://schemas.microsoft.com/office/drawing/2014/main" val="2519821452"/>
                    </a:ext>
                  </a:extLst>
                </a:gridCol>
                <a:gridCol w="1905311">
                  <a:extLst>
                    <a:ext uri="{9D8B030D-6E8A-4147-A177-3AD203B41FA5}">
                      <a16:colId xmlns:a16="http://schemas.microsoft.com/office/drawing/2014/main" val="1440523250"/>
                    </a:ext>
                  </a:extLst>
                </a:gridCol>
                <a:gridCol w="1905311">
                  <a:extLst>
                    <a:ext uri="{9D8B030D-6E8A-4147-A177-3AD203B41FA5}">
                      <a16:colId xmlns:a16="http://schemas.microsoft.com/office/drawing/2014/main" val="1282796500"/>
                    </a:ext>
                  </a:extLst>
                </a:gridCol>
              </a:tblGrid>
              <a:tr h="425289">
                <a:tc>
                  <a:txBody>
                    <a:bodyPr/>
                    <a:lstStyle/>
                    <a:p>
                      <a:pPr algn="ctr"/>
                      <a:r>
                        <a:rPr lang="en-IN" sz="1200" dirty="0"/>
                        <a:t>Video/Audio Pair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99"/>
                    </a:solidFill>
                  </a:tcPr>
                </a:tc>
                <a:tc>
                  <a:txBody>
                    <a:bodyPr/>
                    <a:lstStyle/>
                    <a:p>
                      <a:pPr algn="ctr"/>
                      <a:r>
                        <a:rPr lang="en-IN" sz="1200" dirty="0"/>
                        <a:t>Articulation Score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99"/>
                    </a:solidFill>
                  </a:tcPr>
                </a:tc>
                <a:tc>
                  <a:txBody>
                    <a:bodyPr/>
                    <a:lstStyle/>
                    <a:p>
                      <a:pPr algn="ctr"/>
                      <a:r>
                        <a:rPr lang="en-IN" sz="1200" dirty="0"/>
                        <a:t>Acoustic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99"/>
                    </a:solidFill>
                  </a:tcPr>
                </a:tc>
                <a:extLst>
                  <a:ext uri="{0D108BD9-81ED-4DB2-BD59-A6C34878D82A}">
                    <a16:rowId xmlns:a16="http://schemas.microsoft.com/office/drawing/2014/main" val="419639070"/>
                  </a:ext>
                </a:extLst>
              </a:tr>
              <a:tr h="382874">
                <a:tc>
                  <a:txBody>
                    <a:bodyPr/>
                    <a:lstStyle/>
                    <a:p>
                      <a:pPr algn="ctr"/>
                      <a:r>
                        <a:rPr lang="en-IN" sz="1200" dirty="0" err="1"/>
                        <a:t>Orig</a:t>
                      </a:r>
                      <a:r>
                        <a:rPr lang="en-IN" sz="1200" dirty="0"/>
                        <a:t> vs </a:t>
                      </a:r>
                      <a:r>
                        <a:rPr lang="en-IN" sz="1200" dirty="0" err="1"/>
                        <a:t>Orig</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sz="1200"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sz="1200"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86316675"/>
                  </a:ext>
                </a:extLst>
              </a:tr>
              <a:tr h="382874">
                <a:tc>
                  <a:txBody>
                    <a:bodyPr/>
                    <a:lstStyle/>
                    <a:p>
                      <a:pPr algn="ctr"/>
                      <a:r>
                        <a:rPr lang="en-IN" sz="1200" dirty="0" err="1"/>
                        <a:t>Orig</a:t>
                      </a:r>
                      <a:r>
                        <a:rPr lang="en-IN" sz="1200" dirty="0"/>
                        <a:t> vs Slow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IN" sz="1200" dirty="0"/>
                        <a:t>98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IN" sz="1200" dirty="0"/>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907203004"/>
                  </a:ext>
                </a:extLst>
              </a:tr>
              <a:tr h="382874">
                <a:tc>
                  <a:txBody>
                    <a:bodyPr/>
                    <a:lstStyle/>
                    <a:p>
                      <a:pPr algn="ctr"/>
                      <a:r>
                        <a:rPr lang="en-IN" sz="1200" dirty="0" err="1"/>
                        <a:t>Orig</a:t>
                      </a:r>
                      <a:r>
                        <a:rPr lang="en-IN" sz="1200" dirty="0"/>
                        <a:t> vs Pause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sz="1200" dirty="0"/>
                        <a:t>98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sz="1200" dirty="0"/>
                        <a:t>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56345589"/>
                  </a:ext>
                </a:extLst>
              </a:tr>
              <a:tr h="382874">
                <a:tc>
                  <a:txBody>
                    <a:bodyPr/>
                    <a:lstStyle/>
                    <a:p>
                      <a:pPr algn="ctr"/>
                      <a:r>
                        <a:rPr lang="en-IN" sz="1200" dirty="0" err="1"/>
                        <a:t>Orig</a:t>
                      </a:r>
                      <a:r>
                        <a:rPr lang="en-IN" sz="1200" dirty="0"/>
                        <a:t> vs Self Reenact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IN" sz="1200" dirty="0"/>
                        <a:t>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IN" sz="1200" dirty="0"/>
                        <a:t>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156981980"/>
                  </a:ext>
                </a:extLst>
              </a:tr>
              <a:tr h="382874">
                <a:tc>
                  <a:txBody>
                    <a:bodyPr/>
                    <a:lstStyle/>
                    <a:p>
                      <a:pPr algn="ctr"/>
                      <a:r>
                        <a:rPr lang="en-IN" sz="1200" dirty="0" err="1"/>
                        <a:t>Orig</a:t>
                      </a:r>
                      <a:r>
                        <a:rPr lang="en-IN" sz="1200" dirty="0"/>
                        <a:t> vs Cut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sz="1200" dirty="0"/>
                        <a:t>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sz="1200" dirty="0"/>
                        <a:t>73.1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789334848"/>
                  </a:ext>
                </a:extLst>
              </a:tr>
              <a:tr h="382874">
                <a:tc>
                  <a:txBody>
                    <a:bodyPr/>
                    <a:lstStyle/>
                    <a:p>
                      <a:pPr algn="ctr"/>
                      <a:r>
                        <a:rPr lang="en-IN" sz="1200" dirty="0" err="1"/>
                        <a:t>Orig</a:t>
                      </a:r>
                      <a:r>
                        <a:rPr lang="en-IN" sz="1200" dirty="0"/>
                        <a:t> vs Frozen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IN" sz="1200" dirty="0"/>
                        <a:t>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IN"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7877188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400" b="1">
                <a:solidFill>
                  <a:srgbClr val="0F3F7A"/>
                </a:solidFill>
                <a:latin typeface="Calibri"/>
              </a:rPr>
              <a:t>Guardrails — Refuse to Score Unreliable Inputs</a:t>
            </a:r>
          </a:p>
        </p:txBody>
      </p:sp>
      <p:sp>
        <p:nvSpPr>
          <p:cNvPr id="3" name="Content Placeholder 2"/>
          <p:cNvSpPr>
            <a:spLocks noGrp="1"/>
          </p:cNvSpPr>
          <p:nvPr>
            <p:ph sz="half" idx="2"/>
          </p:nvPr>
        </p:nvSpPr>
        <p:spPr/>
        <p:txBody>
          <a:bodyPr/>
          <a:lstStyle/>
          <a:p>
            <a:endParaRPr/>
          </a:p>
        </p:txBody>
      </p:sp>
      <p:sp>
        <p:nvSpPr>
          <p:cNvPr id="4" name="Rounded Rectangle 3"/>
          <p:cNvSpPr/>
          <p:nvPr/>
        </p:nvSpPr>
        <p:spPr>
          <a:xfrm>
            <a:off x="274320" y="1280160"/>
            <a:ext cx="2743200" cy="2194560"/>
          </a:xfrm>
          <a:prstGeom prst="roundRect">
            <a:avLst/>
          </a:prstGeom>
          <a:solidFill>
            <a:srgbClr val="0F3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79" y="1417319"/>
            <a:ext cx="2468880" cy="457200"/>
          </a:xfrm>
          <a:prstGeom prst="rect">
            <a:avLst/>
          </a:prstGeom>
          <a:noFill/>
        </p:spPr>
        <p:txBody>
          <a:bodyPr wrap="square" lIns="45720" tIns="18288" rIns="45720" bIns="18288" anchor="t">
            <a:spAutoFit/>
          </a:bodyPr>
          <a:lstStyle/>
          <a:p>
            <a:pPr algn="l"/>
            <a:r>
              <a:rPr sz="1500" b="1">
                <a:solidFill>
                  <a:srgbClr val="FFFFFF"/>
                </a:solidFill>
                <a:latin typeface="Calibri"/>
              </a:rPr>
              <a:t>Duration</a:t>
            </a:r>
          </a:p>
        </p:txBody>
      </p:sp>
      <p:sp>
        <p:nvSpPr>
          <p:cNvPr id="6" name="TextBox 5"/>
          <p:cNvSpPr txBox="1"/>
          <p:nvPr/>
        </p:nvSpPr>
        <p:spPr>
          <a:xfrm>
            <a:off x="411479" y="1965960"/>
            <a:ext cx="2468880" cy="1371600"/>
          </a:xfrm>
          <a:prstGeom prst="rect">
            <a:avLst/>
          </a:prstGeom>
          <a:noFill/>
        </p:spPr>
        <p:txBody>
          <a:bodyPr wrap="square" lIns="45720" tIns="18288" rIns="45720" bIns="18288" anchor="t">
            <a:spAutoFit/>
          </a:bodyPr>
          <a:lstStyle/>
          <a:p>
            <a:pPr algn="l"/>
            <a:r>
              <a:rPr sz="1200" b="0" dirty="0">
                <a:solidFill>
                  <a:srgbClr val="FFFFFF"/>
                </a:solidFill>
                <a:latin typeface="Calibri"/>
              </a:rPr>
              <a:t>1 s ≤ video ≤ 60 s</a:t>
            </a:r>
          </a:p>
        </p:txBody>
      </p:sp>
      <p:sp>
        <p:nvSpPr>
          <p:cNvPr id="7" name="Rounded Rectangle 6"/>
          <p:cNvSpPr/>
          <p:nvPr/>
        </p:nvSpPr>
        <p:spPr>
          <a:xfrm>
            <a:off x="3200400" y="1280160"/>
            <a:ext cx="2743200" cy="2194560"/>
          </a:xfrm>
          <a:prstGeom prst="roundRect">
            <a:avLst/>
          </a:prstGeom>
          <a:solidFill>
            <a:srgbClr val="1E6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37560" y="1417319"/>
            <a:ext cx="2468880" cy="457200"/>
          </a:xfrm>
          <a:prstGeom prst="rect">
            <a:avLst/>
          </a:prstGeom>
          <a:noFill/>
        </p:spPr>
        <p:txBody>
          <a:bodyPr wrap="square" lIns="45720" tIns="18288" rIns="45720" bIns="18288" anchor="t">
            <a:spAutoFit/>
          </a:bodyPr>
          <a:lstStyle/>
          <a:p>
            <a:pPr algn="l"/>
            <a:r>
              <a:rPr sz="1500" b="1">
                <a:solidFill>
                  <a:srgbClr val="FFFFFF"/>
                </a:solidFill>
                <a:latin typeface="Calibri"/>
              </a:rPr>
              <a:t>Frame count</a:t>
            </a:r>
          </a:p>
        </p:txBody>
      </p:sp>
      <p:sp>
        <p:nvSpPr>
          <p:cNvPr id="9" name="TextBox 8"/>
          <p:cNvSpPr txBox="1"/>
          <p:nvPr/>
        </p:nvSpPr>
        <p:spPr>
          <a:xfrm>
            <a:off x="3337560" y="1965960"/>
            <a:ext cx="2468880" cy="1371600"/>
          </a:xfrm>
          <a:prstGeom prst="rect">
            <a:avLst/>
          </a:prstGeom>
          <a:noFill/>
        </p:spPr>
        <p:txBody>
          <a:bodyPr wrap="square" lIns="45720" tIns="18288" rIns="45720" bIns="18288" anchor="t">
            <a:spAutoFit/>
          </a:bodyPr>
          <a:lstStyle/>
          <a:p>
            <a:pPr algn="l"/>
            <a:r>
              <a:rPr sz="1200" b="0">
                <a:solidFill>
                  <a:srgbClr val="FFFFFF"/>
                </a:solidFill>
                <a:latin typeface="Calibri"/>
              </a:rPr>
              <a:t>≥ 10 decoded frames
≥ 5 with face detected</a:t>
            </a:r>
          </a:p>
        </p:txBody>
      </p:sp>
      <p:sp>
        <p:nvSpPr>
          <p:cNvPr id="10" name="Rounded Rectangle 9"/>
          <p:cNvSpPr/>
          <p:nvPr/>
        </p:nvSpPr>
        <p:spPr>
          <a:xfrm>
            <a:off x="6126480" y="1280160"/>
            <a:ext cx="2743200" cy="219456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63640" y="1417319"/>
            <a:ext cx="2468880" cy="457200"/>
          </a:xfrm>
          <a:prstGeom prst="rect">
            <a:avLst/>
          </a:prstGeom>
          <a:noFill/>
        </p:spPr>
        <p:txBody>
          <a:bodyPr wrap="square" lIns="45720" tIns="18288" rIns="45720" bIns="18288" anchor="t">
            <a:spAutoFit/>
          </a:bodyPr>
          <a:lstStyle/>
          <a:p>
            <a:pPr algn="l"/>
            <a:r>
              <a:rPr sz="1500" b="1">
                <a:solidFill>
                  <a:srgbClr val="FFFFFF"/>
                </a:solidFill>
                <a:latin typeface="Calibri"/>
              </a:rPr>
              <a:t>Motion</a:t>
            </a:r>
          </a:p>
        </p:txBody>
      </p:sp>
      <p:sp>
        <p:nvSpPr>
          <p:cNvPr id="12" name="TextBox 11"/>
          <p:cNvSpPr txBox="1"/>
          <p:nvPr/>
        </p:nvSpPr>
        <p:spPr>
          <a:xfrm>
            <a:off x="6263640" y="1965960"/>
            <a:ext cx="2468880" cy="1371600"/>
          </a:xfrm>
          <a:prstGeom prst="rect">
            <a:avLst/>
          </a:prstGeom>
          <a:noFill/>
        </p:spPr>
        <p:txBody>
          <a:bodyPr wrap="square" lIns="45720" tIns="18288" rIns="45720" bIns="18288" anchor="t">
            <a:spAutoFit/>
          </a:bodyPr>
          <a:lstStyle/>
          <a:p>
            <a:pPr algn="l"/>
            <a:r>
              <a:rPr sz="1200" b="0">
                <a:solidFill>
                  <a:srgbClr val="FFFFFF"/>
                </a:solidFill>
                <a:latin typeface="Calibri"/>
              </a:rPr>
              <a:t>Mean inter-frame pixel
diff ≥ 2.0 (else stationary)</a:t>
            </a:r>
          </a:p>
        </p:txBody>
      </p:sp>
      <p:sp>
        <p:nvSpPr>
          <p:cNvPr id="13" name="Rounded Rectangle 12"/>
          <p:cNvSpPr/>
          <p:nvPr/>
        </p:nvSpPr>
        <p:spPr>
          <a:xfrm>
            <a:off x="274320" y="3611879"/>
            <a:ext cx="2743200" cy="2194560"/>
          </a:xfrm>
          <a:prstGeom prst="roundRect">
            <a:avLst/>
          </a:prstGeom>
          <a:solidFill>
            <a:srgbClr val="0F3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79" y="3749039"/>
            <a:ext cx="2468880" cy="457200"/>
          </a:xfrm>
          <a:prstGeom prst="rect">
            <a:avLst/>
          </a:prstGeom>
          <a:noFill/>
        </p:spPr>
        <p:txBody>
          <a:bodyPr wrap="square" lIns="45720" tIns="18288" rIns="45720" bIns="18288" anchor="t">
            <a:spAutoFit/>
          </a:bodyPr>
          <a:lstStyle/>
          <a:p>
            <a:pPr algn="l"/>
            <a:r>
              <a:rPr sz="1500" b="1">
                <a:solidFill>
                  <a:srgbClr val="FFFFFF"/>
                </a:solidFill>
                <a:latin typeface="Calibri"/>
              </a:rPr>
              <a:t>Speech energy</a:t>
            </a:r>
          </a:p>
        </p:txBody>
      </p:sp>
      <p:sp>
        <p:nvSpPr>
          <p:cNvPr id="15" name="TextBox 14"/>
          <p:cNvSpPr txBox="1"/>
          <p:nvPr/>
        </p:nvSpPr>
        <p:spPr>
          <a:xfrm>
            <a:off x="411479" y="4297679"/>
            <a:ext cx="2468880" cy="1371600"/>
          </a:xfrm>
          <a:prstGeom prst="rect">
            <a:avLst/>
          </a:prstGeom>
          <a:noFill/>
        </p:spPr>
        <p:txBody>
          <a:bodyPr wrap="square" lIns="45720" tIns="18288" rIns="45720" bIns="18288" anchor="t">
            <a:spAutoFit/>
          </a:bodyPr>
          <a:lstStyle/>
          <a:p>
            <a:pPr algn="l"/>
            <a:r>
              <a:rPr sz="1200" b="0">
                <a:solidFill>
                  <a:srgbClr val="FFFFFF"/>
                </a:solidFill>
                <a:latin typeface="Calibri"/>
              </a:rPr>
              <a:t>Audio RMS ≥ 1e-3
(else silent)</a:t>
            </a:r>
          </a:p>
        </p:txBody>
      </p:sp>
      <p:sp>
        <p:nvSpPr>
          <p:cNvPr id="16" name="Rounded Rectangle 15"/>
          <p:cNvSpPr/>
          <p:nvPr/>
        </p:nvSpPr>
        <p:spPr>
          <a:xfrm>
            <a:off x="3200400" y="3611879"/>
            <a:ext cx="2743200" cy="2194560"/>
          </a:xfrm>
          <a:prstGeom prst="roundRect">
            <a:avLst/>
          </a:prstGeom>
          <a:solidFill>
            <a:srgbClr val="1E6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37560" y="3749039"/>
            <a:ext cx="2468880" cy="457200"/>
          </a:xfrm>
          <a:prstGeom prst="rect">
            <a:avLst/>
          </a:prstGeom>
          <a:noFill/>
        </p:spPr>
        <p:txBody>
          <a:bodyPr wrap="square" lIns="45720" tIns="18288" rIns="45720" bIns="18288" anchor="t">
            <a:spAutoFit/>
          </a:bodyPr>
          <a:lstStyle/>
          <a:p>
            <a:pPr algn="l"/>
            <a:r>
              <a:rPr sz="1500" b="1">
                <a:solidFill>
                  <a:srgbClr val="FFFFFF"/>
                </a:solidFill>
                <a:latin typeface="Calibri"/>
              </a:rPr>
              <a:t>Transcript</a:t>
            </a:r>
          </a:p>
        </p:txBody>
      </p:sp>
      <p:sp>
        <p:nvSpPr>
          <p:cNvPr id="18" name="TextBox 17"/>
          <p:cNvSpPr txBox="1"/>
          <p:nvPr/>
        </p:nvSpPr>
        <p:spPr>
          <a:xfrm>
            <a:off x="3337560" y="4297679"/>
            <a:ext cx="2468880" cy="1371600"/>
          </a:xfrm>
          <a:prstGeom prst="rect">
            <a:avLst/>
          </a:prstGeom>
          <a:noFill/>
        </p:spPr>
        <p:txBody>
          <a:bodyPr wrap="square" lIns="45720" tIns="18288" rIns="45720" bIns="18288" anchor="t">
            <a:spAutoFit/>
          </a:bodyPr>
          <a:lstStyle/>
          <a:p>
            <a:pPr algn="l"/>
            <a:r>
              <a:rPr sz="1200" b="0">
                <a:solidFill>
                  <a:srgbClr val="FFFFFF"/>
                </a:solidFill>
                <a:latin typeface="Calibri"/>
              </a:rPr>
              <a:t>Whisper must return
non-empty text</a:t>
            </a:r>
          </a:p>
        </p:txBody>
      </p:sp>
      <p:sp>
        <p:nvSpPr>
          <p:cNvPr id="19" name="Rounded Rectangle 18"/>
          <p:cNvSpPr/>
          <p:nvPr/>
        </p:nvSpPr>
        <p:spPr>
          <a:xfrm>
            <a:off x="6126480" y="3611879"/>
            <a:ext cx="2743200" cy="219456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63640" y="3749039"/>
            <a:ext cx="2468880" cy="457200"/>
          </a:xfrm>
          <a:prstGeom prst="rect">
            <a:avLst/>
          </a:prstGeom>
          <a:noFill/>
        </p:spPr>
        <p:txBody>
          <a:bodyPr wrap="square" lIns="45720" tIns="18288" rIns="45720" bIns="18288" anchor="t">
            <a:spAutoFit/>
          </a:bodyPr>
          <a:lstStyle/>
          <a:p>
            <a:pPr algn="l"/>
            <a:r>
              <a:rPr sz="1500" b="1">
                <a:solidFill>
                  <a:srgbClr val="FFFFFF"/>
                </a:solidFill>
                <a:latin typeface="Calibri"/>
              </a:rPr>
              <a:t>Score penalty</a:t>
            </a:r>
          </a:p>
        </p:txBody>
      </p:sp>
      <p:sp>
        <p:nvSpPr>
          <p:cNvPr id="21" name="TextBox 20"/>
          <p:cNvSpPr txBox="1"/>
          <p:nvPr/>
        </p:nvSpPr>
        <p:spPr>
          <a:xfrm>
            <a:off x="6263640" y="4297679"/>
            <a:ext cx="2468880" cy="1371600"/>
          </a:xfrm>
          <a:prstGeom prst="rect">
            <a:avLst/>
          </a:prstGeom>
          <a:noFill/>
        </p:spPr>
        <p:txBody>
          <a:bodyPr wrap="square" lIns="45720" tIns="18288" rIns="45720" bIns="18288" anchor="t">
            <a:spAutoFit/>
          </a:bodyPr>
          <a:lstStyle/>
          <a:p>
            <a:pPr algn="l"/>
            <a:r>
              <a:rPr sz="1200" b="0">
                <a:solidFill>
                  <a:srgbClr val="FFFFFF"/>
                </a:solidFill>
                <a:latin typeface="Calibri"/>
              </a:rPr>
              <a:t>Articulation halved if
avg dialogue score &lt; 40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228600"/>
            <a:ext cx="8595360" cy="375487"/>
          </a:xfrm>
          <a:prstGeom prst="rect">
            <a:avLst/>
          </a:prstGeom>
          <a:noFill/>
        </p:spPr>
        <p:txBody>
          <a:bodyPr wrap="square" lIns="45720" tIns="18288" rIns="45720" bIns="18288" anchor="t">
            <a:spAutoFit/>
          </a:bodyPr>
          <a:lstStyle/>
          <a:p>
            <a:pPr algn="l"/>
            <a:r>
              <a:rPr sz="2200" b="1" dirty="0">
                <a:solidFill>
                  <a:srgbClr val="0F3F7A"/>
                </a:solidFill>
                <a:latin typeface="Calibri"/>
              </a:rPr>
              <a:t>Demo  ·  UI Walk-through  ·  Therapist Validation</a:t>
            </a:r>
          </a:p>
        </p:txBody>
      </p:sp>
      <p:sp>
        <p:nvSpPr>
          <p:cNvPr id="3" name="Rectangle 2"/>
          <p:cNvSpPr/>
          <p:nvPr/>
        </p:nvSpPr>
        <p:spPr>
          <a:xfrm>
            <a:off x="274320" y="841248"/>
            <a:ext cx="8595360" cy="36576"/>
          </a:xfrm>
          <a:prstGeom prst="rect">
            <a:avLst/>
          </a:prstGeom>
          <a:solidFill>
            <a:srgbClr val="1E6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274320" y="1097280"/>
            <a:ext cx="4937760" cy="4023360"/>
          </a:xfrm>
          <a:prstGeom prst="round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188720"/>
            <a:ext cx="4572000" cy="313932"/>
          </a:xfrm>
          <a:prstGeom prst="rect">
            <a:avLst/>
          </a:prstGeom>
          <a:noFill/>
        </p:spPr>
        <p:txBody>
          <a:bodyPr wrap="square" lIns="45720" tIns="18288" rIns="45720" bIns="18288" anchor="t">
            <a:spAutoFit/>
          </a:bodyPr>
          <a:lstStyle/>
          <a:p>
            <a:pPr algn="l"/>
            <a:r>
              <a:rPr lang="en-IN" sz="1800" b="1" dirty="0">
                <a:solidFill>
                  <a:srgbClr val="0F3F7A"/>
                </a:solidFill>
                <a:latin typeface="Calibri"/>
              </a:rPr>
              <a:t>   </a:t>
            </a:r>
            <a:r>
              <a:rPr sz="1800" b="1" dirty="0">
                <a:solidFill>
                  <a:srgbClr val="0F3F7A"/>
                </a:solidFill>
                <a:latin typeface="Calibri"/>
              </a:rPr>
              <a:t>Demo</a:t>
            </a:r>
          </a:p>
        </p:txBody>
      </p:sp>
      <p:sp>
        <p:nvSpPr>
          <p:cNvPr id="6" name="TextBox 5"/>
          <p:cNvSpPr txBox="1"/>
          <p:nvPr/>
        </p:nvSpPr>
        <p:spPr>
          <a:xfrm>
            <a:off x="457200" y="1645920"/>
            <a:ext cx="4572000" cy="1329595"/>
          </a:xfrm>
          <a:prstGeom prst="rect">
            <a:avLst/>
          </a:prstGeom>
          <a:noFill/>
        </p:spPr>
        <p:txBody>
          <a:bodyPr wrap="square" lIns="45720" tIns="18288" rIns="45720" bIns="18288" anchor="t">
            <a:spAutoFit/>
          </a:bodyPr>
          <a:lstStyle/>
          <a:p>
            <a:pPr algn="l"/>
            <a:r>
              <a:rPr sz="1200" b="0" dirty="0">
                <a:solidFill>
                  <a:srgbClr val="333333"/>
                </a:solidFill>
                <a:latin typeface="Calibri"/>
              </a:rPr>
              <a:t>Walks through:
  ① upload patient image
  ② upload therapist video
  ③ select voice option
  ④ generate
  ⑤ record practice
  ⑥ view weighted score + feedback</a:t>
            </a:r>
          </a:p>
        </p:txBody>
      </p:sp>
      <p:sp>
        <p:nvSpPr>
          <p:cNvPr id="7" name="Rounded Rectangle 6"/>
          <p:cNvSpPr/>
          <p:nvPr/>
        </p:nvSpPr>
        <p:spPr>
          <a:xfrm>
            <a:off x="5349240" y="1097280"/>
            <a:ext cx="3520440" cy="4023360"/>
          </a:xfrm>
          <a:prstGeom prst="roundRect">
            <a:avLst/>
          </a:prstGeom>
          <a:solidFill>
            <a:srgbClr val="0F3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32120" y="1188720"/>
            <a:ext cx="3291840" cy="313932"/>
          </a:xfrm>
          <a:prstGeom prst="rect">
            <a:avLst/>
          </a:prstGeom>
          <a:noFill/>
        </p:spPr>
        <p:txBody>
          <a:bodyPr wrap="square" lIns="45720" tIns="18288" rIns="45720" bIns="18288" anchor="t">
            <a:spAutoFit/>
          </a:bodyPr>
          <a:lstStyle/>
          <a:p>
            <a:pPr algn="l"/>
            <a:r>
              <a:rPr lang="en-IN" sz="1800" b="1" dirty="0">
                <a:solidFill>
                  <a:srgbClr val="FFFFFF"/>
                </a:solidFill>
                <a:latin typeface="Calibri"/>
              </a:rPr>
              <a:t>    </a:t>
            </a:r>
            <a:r>
              <a:rPr sz="1800" b="1" dirty="0">
                <a:solidFill>
                  <a:srgbClr val="FFFFFF"/>
                </a:solidFill>
                <a:latin typeface="Calibri"/>
              </a:rPr>
              <a:t>Therapist Validation</a:t>
            </a:r>
          </a:p>
        </p:txBody>
      </p:sp>
      <p:sp>
        <p:nvSpPr>
          <p:cNvPr id="9" name="TextBox 8"/>
          <p:cNvSpPr txBox="1"/>
          <p:nvPr/>
        </p:nvSpPr>
        <p:spPr>
          <a:xfrm>
            <a:off x="5532120" y="1691640"/>
            <a:ext cx="3291840" cy="2068259"/>
          </a:xfrm>
          <a:prstGeom prst="rect">
            <a:avLst/>
          </a:prstGeom>
          <a:noFill/>
        </p:spPr>
        <p:txBody>
          <a:bodyPr wrap="square" lIns="45720" tIns="18288" rIns="45720" bIns="18288" anchor="t">
            <a:spAutoFit/>
          </a:bodyPr>
          <a:lstStyle/>
          <a:p>
            <a:pPr algn="l"/>
            <a:r>
              <a:rPr sz="1200" b="0" dirty="0">
                <a:solidFill>
                  <a:srgbClr val="FFFFFF"/>
                </a:solidFill>
                <a:latin typeface="Calibri"/>
              </a:rPr>
              <a:t>Dr. </a:t>
            </a:r>
            <a:r>
              <a:rPr lang="en-IN" sz="1200" dirty="0" err="1">
                <a:solidFill>
                  <a:srgbClr val="FFFFFF"/>
                </a:solidFill>
                <a:latin typeface="Calibri"/>
              </a:rPr>
              <a:t>Sunali</a:t>
            </a:r>
            <a:r>
              <a:rPr lang="en-IN" sz="1200" dirty="0">
                <a:solidFill>
                  <a:srgbClr val="FFFFFF"/>
                </a:solidFill>
                <a:latin typeface="Calibri"/>
              </a:rPr>
              <a:t> Dhavan</a:t>
            </a:r>
            <a:r>
              <a:rPr sz="1200" b="0" dirty="0">
                <a:solidFill>
                  <a:srgbClr val="FFFFFF"/>
                </a:solidFill>
                <a:latin typeface="Calibri"/>
              </a:rPr>
              <a:t>, IIT Roorkee Institute Hospital
Reviewed the system and shared:
  • Genuine clinical value
  • Encouraging for patients
  • Suggested adding acoustic + transcript accuracy alongside articulation — became our 30/30/40 weighting
  • Future direction: tongue-movement analysis (dataset-limited)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400" b="1">
                <a:solidFill>
                  <a:srgbClr val="0F3F7A"/>
                </a:solidFill>
                <a:latin typeface="Calibri"/>
              </a:rPr>
              <a:t>Contributions, Limitations, and Future Work</a:t>
            </a:r>
          </a:p>
        </p:txBody>
      </p:sp>
      <p:sp>
        <p:nvSpPr>
          <p:cNvPr id="3" name="Content Placeholder 2"/>
          <p:cNvSpPr>
            <a:spLocks noGrp="1"/>
          </p:cNvSpPr>
          <p:nvPr>
            <p:ph sz="half" idx="2"/>
          </p:nvPr>
        </p:nvSpPr>
        <p:spPr/>
        <p:txBody>
          <a:bodyPr/>
          <a:lstStyle/>
          <a:p>
            <a:endParaRPr dirty="0"/>
          </a:p>
        </p:txBody>
      </p:sp>
      <p:sp>
        <p:nvSpPr>
          <p:cNvPr id="4" name="Rounded Rectangle 3"/>
          <p:cNvSpPr/>
          <p:nvPr/>
        </p:nvSpPr>
        <p:spPr>
          <a:xfrm>
            <a:off x="274320" y="1188720"/>
            <a:ext cx="2788920" cy="3551231"/>
          </a:xfrm>
          <a:prstGeom prst="roundRect">
            <a:avLst/>
          </a:prstGeom>
          <a:solidFill>
            <a:srgbClr val="0F3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280160"/>
            <a:ext cx="2606039" cy="365760"/>
          </a:xfrm>
          <a:prstGeom prst="rect">
            <a:avLst/>
          </a:prstGeom>
          <a:noFill/>
        </p:spPr>
        <p:txBody>
          <a:bodyPr wrap="square" lIns="45720" tIns="18288" rIns="45720" bIns="18288" anchor="t">
            <a:spAutoFit/>
          </a:bodyPr>
          <a:lstStyle/>
          <a:p>
            <a:pPr algn="ctr"/>
            <a:r>
              <a:rPr sz="1600" b="1">
                <a:solidFill>
                  <a:srgbClr val="FFFFFF"/>
                </a:solidFill>
                <a:latin typeface="Calibri"/>
              </a:rPr>
              <a:t>Contributions</a:t>
            </a:r>
          </a:p>
        </p:txBody>
      </p:sp>
      <p:sp>
        <p:nvSpPr>
          <p:cNvPr id="6" name="TextBox 5"/>
          <p:cNvSpPr txBox="1"/>
          <p:nvPr/>
        </p:nvSpPr>
        <p:spPr>
          <a:xfrm>
            <a:off x="594361" y="1806407"/>
            <a:ext cx="2606039" cy="1426031"/>
          </a:xfrm>
          <a:prstGeom prst="rect">
            <a:avLst/>
          </a:prstGeom>
          <a:noFill/>
        </p:spPr>
        <p:txBody>
          <a:bodyPr wrap="square" lIns="45720" rIns="45720">
            <a:spAutoFit/>
          </a:bodyPr>
          <a:lstStyle/>
          <a:p>
            <a:pPr algn="l">
              <a:spcAft>
                <a:spcPts val="800"/>
              </a:spcAft>
            </a:pPr>
            <a:r>
              <a:rPr sz="1200" dirty="0">
                <a:solidFill>
                  <a:srgbClr val="FFFFFF"/>
                </a:solidFill>
                <a:latin typeface="Calibri"/>
              </a:rPr>
              <a:t>•  End-to-end working prototype</a:t>
            </a:r>
          </a:p>
          <a:p>
            <a:pPr algn="l">
              <a:spcAft>
                <a:spcPts val="800"/>
              </a:spcAft>
            </a:pPr>
            <a:r>
              <a:rPr sz="1200" dirty="0">
                <a:solidFill>
                  <a:srgbClr val="FFFFFF"/>
                </a:solidFill>
                <a:latin typeface="Calibri"/>
              </a:rPr>
              <a:t>•  Multi-env integration</a:t>
            </a:r>
            <a:endParaRPr lang="en-IN" sz="1200" dirty="0">
              <a:solidFill>
                <a:srgbClr val="FFFFFF"/>
              </a:solidFill>
              <a:latin typeface="Calibri"/>
            </a:endParaRPr>
          </a:p>
          <a:p>
            <a:pPr algn="l">
              <a:spcAft>
                <a:spcPts val="800"/>
              </a:spcAft>
            </a:pPr>
            <a:r>
              <a:rPr sz="1200" dirty="0">
                <a:solidFill>
                  <a:srgbClr val="FFFFFF"/>
                </a:solidFill>
                <a:latin typeface="Calibri"/>
              </a:rPr>
              <a:t>•  </a:t>
            </a:r>
            <a:r>
              <a:rPr lang="en-IN" sz="1200" dirty="0">
                <a:solidFill>
                  <a:srgbClr val="FFFFFF"/>
                </a:solidFill>
                <a:latin typeface="Calibri"/>
              </a:rPr>
              <a:t>Wholistic</a:t>
            </a:r>
            <a:r>
              <a:rPr sz="1200" dirty="0">
                <a:solidFill>
                  <a:srgbClr val="FFFFFF"/>
                </a:solidFill>
                <a:latin typeface="Calibri"/>
              </a:rPr>
              <a:t> 3-component metric</a:t>
            </a:r>
          </a:p>
          <a:p>
            <a:pPr algn="l">
              <a:spcAft>
                <a:spcPts val="800"/>
              </a:spcAft>
            </a:pPr>
            <a:r>
              <a:rPr sz="1200" dirty="0">
                <a:solidFill>
                  <a:srgbClr val="FFFFFF"/>
                </a:solidFill>
                <a:latin typeface="Calibri"/>
              </a:rPr>
              <a:t>•  Six  guardrails</a:t>
            </a:r>
          </a:p>
          <a:p>
            <a:pPr algn="l">
              <a:spcAft>
                <a:spcPts val="800"/>
              </a:spcAft>
            </a:pPr>
            <a:r>
              <a:rPr sz="1200" dirty="0">
                <a:solidFill>
                  <a:srgbClr val="FFFFFF"/>
                </a:solidFill>
                <a:latin typeface="Calibri"/>
              </a:rPr>
              <a:t>•  Failure analysis of diffusion</a:t>
            </a:r>
          </a:p>
        </p:txBody>
      </p:sp>
      <p:sp>
        <p:nvSpPr>
          <p:cNvPr id="7" name="Rounded Rectangle 6"/>
          <p:cNvSpPr/>
          <p:nvPr/>
        </p:nvSpPr>
        <p:spPr>
          <a:xfrm>
            <a:off x="3154680" y="1188720"/>
            <a:ext cx="2788920" cy="3551231"/>
          </a:xfrm>
          <a:prstGeom prst="roundRect">
            <a:avLst/>
          </a:prstGeom>
          <a:solidFill>
            <a:srgbClr val="1E6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46120" y="1280160"/>
            <a:ext cx="2606039" cy="365760"/>
          </a:xfrm>
          <a:prstGeom prst="rect">
            <a:avLst/>
          </a:prstGeom>
          <a:noFill/>
        </p:spPr>
        <p:txBody>
          <a:bodyPr wrap="square" lIns="45720" tIns="18288" rIns="45720" bIns="18288" anchor="t">
            <a:spAutoFit/>
          </a:bodyPr>
          <a:lstStyle/>
          <a:p>
            <a:pPr algn="ctr"/>
            <a:r>
              <a:rPr sz="1600" b="1">
                <a:solidFill>
                  <a:srgbClr val="FFFFFF"/>
                </a:solidFill>
                <a:latin typeface="Calibri"/>
              </a:rPr>
              <a:t>Limitations</a:t>
            </a:r>
          </a:p>
        </p:txBody>
      </p:sp>
      <p:sp>
        <p:nvSpPr>
          <p:cNvPr id="9" name="TextBox 8"/>
          <p:cNvSpPr txBox="1"/>
          <p:nvPr/>
        </p:nvSpPr>
        <p:spPr>
          <a:xfrm>
            <a:off x="3246120" y="1737360"/>
            <a:ext cx="2606039" cy="1795363"/>
          </a:xfrm>
          <a:prstGeom prst="rect">
            <a:avLst/>
          </a:prstGeom>
          <a:noFill/>
        </p:spPr>
        <p:txBody>
          <a:bodyPr wrap="square" lIns="45720" rIns="45720">
            <a:spAutoFit/>
          </a:bodyPr>
          <a:lstStyle/>
          <a:p>
            <a:pPr algn="l">
              <a:spcAft>
                <a:spcPts val="800"/>
              </a:spcAft>
            </a:pPr>
            <a:r>
              <a:rPr sz="1200" dirty="0">
                <a:solidFill>
                  <a:srgbClr val="FFFFFF"/>
                </a:solidFill>
                <a:latin typeface="Calibri"/>
              </a:rPr>
              <a:t>•  </a:t>
            </a:r>
            <a:r>
              <a:rPr lang="en-IN" sz="1200" dirty="0">
                <a:solidFill>
                  <a:srgbClr val="FFFFFF"/>
                </a:solidFill>
                <a:latin typeface="Calibri"/>
              </a:rPr>
              <a:t>Only two languages tested (English and Hindi</a:t>
            </a:r>
          </a:p>
          <a:p>
            <a:pPr algn="l">
              <a:spcAft>
                <a:spcPts val="800"/>
              </a:spcAft>
            </a:pPr>
            <a:r>
              <a:rPr sz="1200" dirty="0">
                <a:solidFill>
                  <a:srgbClr val="FFFFFF"/>
                </a:solidFill>
                <a:latin typeface="Calibri"/>
              </a:rPr>
              <a:t>•  No tongue / inside-mouth signal</a:t>
            </a:r>
          </a:p>
          <a:p>
            <a:pPr algn="l">
              <a:spcAft>
                <a:spcPts val="800"/>
              </a:spcAft>
            </a:pPr>
            <a:r>
              <a:rPr sz="1200" dirty="0">
                <a:solidFill>
                  <a:srgbClr val="FFFFFF"/>
                </a:solidFill>
                <a:latin typeface="Calibri"/>
              </a:rPr>
              <a:t>•  Whisper depends on clear audio</a:t>
            </a:r>
          </a:p>
          <a:p>
            <a:pPr algn="l">
              <a:spcAft>
                <a:spcPts val="800"/>
              </a:spcAft>
            </a:pPr>
            <a:r>
              <a:rPr lang="en-IN" sz="1200" dirty="0">
                <a:solidFill>
                  <a:srgbClr val="FFFFFF"/>
                </a:solidFill>
                <a:latin typeface="Calibri"/>
              </a:rPr>
              <a:t>•  Patient’s Image should have neutral expression</a:t>
            </a:r>
          </a:p>
          <a:p>
            <a:pPr algn="l">
              <a:spcAft>
                <a:spcPts val="800"/>
              </a:spcAft>
            </a:pPr>
            <a:r>
              <a:rPr lang="en-US" sz="1200" dirty="0">
                <a:solidFill>
                  <a:srgbClr val="FFFFFF"/>
                </a:solidFill>
                <a:latin typeface="Calibri"/>
              </a:rPr>
              <a:t>•  Patient face must be roughly frontal</a:t>
            </a:r>
          </a:p>
        </p:txBody>
      </p:sp>
      <p:sp>
        <p:nvSpPr>
          <p:cNvPr id="10" name="Rounded Rectangle 9"/>
          <p:cNvSpPr/>
          <p:nvPr/>
        </p:nvSpPr>
        <p:spPr>
          <a:xfrm>
            <a:off x="6035040" y="1188720"/>
            <a:ext cx="2834640" cy="3551231"/>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26479" y="1280160"/>
            <a:ext cx="2651760" cy="365760"/>
          </a:xfrm>
          <a:prstGeom prst="rect">
            <a:avLst/>
          </a:prstGeom>
          <a:noFill/>
        </p:spPr>
        <p:txBody>
          <a:bodyPr wrap="square" lIns="45720" tIns="18288" rIns="45720" bIns="18288" anchor="t">
            <a:spAutoFit/>
          </a:bodyPr>
          <a:lstStyle/>
          <a:p>
            <a:pPr algn="ctr"/>
            <a:r>
              <a:rPr sz="1600" b="1">
                <a:solidFill>
                  <a:srgbClr val="FFFFFF"/>
                </a:solidFill>
                <a:latin typeface="Calibri"/>
              </a:rPr>
              <a:t>Future Work</a:t>
            </a:r>
          </a:p>
        </p:txBody>
      </p:sp>
      <p:sp>
        <p:nvSpPr>
          <p:cNvPr id="12" name="TextBox 11"/>
          <p:cNvSpPr txBox="1"/>
          <p:nvPr/>
        </p:nvSpPr>
        <p:spPr>
          <a:xfrm>
            <a:off x="6126479" y="1737360"/>
            <a:ext cx="2651760" cy="1036181"/>
          </a:xfrm>
          <a:prstGeom prst="rect">
            <a:avLst/>
          </a:prstGeom>
          <a:noFill/>
        </p:spPr>
        <p:txBody>
          <a:bodyPr wrap="square" lIns="45720" rIns="45720">
            <a:spAutoFit/>
          </a:bodyPr>
          <a:lstStyle/>
          <a:p>
            <a:pPr algn="l">
              <a:spcAft>
                <a:spcPts val="800"/>
              </a:spcAft>
            </a:pPr>
            <a:r>
              <a:rPr sz="1200" dirty="0">
                <a:solidFill>
                  <a:srgbClr val="FFFFFF"/>
                </a:solidFill>
                <a:latin typeface="Calibri"/>
              </a:rPr>
              <a:t>•  Tongue-movement modelling (with new datasets)</a:t>
            </a:r>
          </a:p>
          <a:p>
            <a:pPr algn="l">
              <a:spcAft>
                <a:spcPts val="800"/>
              </a:spcAft>
            </a:pPr>
            <a:r>
              <a:rPr sz="1200" dirty="0">
                <a:solidFill>
                  <a:srgbClr val="FFFFFF"/>
                </a:solidFill>
                <a:latin typeface="Calibri"/>
              </a:rPr>
              <a:t>•  Multi-language transcript accuracy</a:t>
            </a:r>
          </a:p>
          <a:p>
            <a:pPr algn="l">
              <a:spcAft>
                <a:spcPts val="800"/>
              </a:spcAft>
            </a:pPr>
            <a:r>
              <a:rPr sz="1200" dirty="0">
                <a:solidFill>
                  <a:srgbClr val="FFFFFF"/>
                </a:solidFill>
                <a:latin typeface="Calibri"/>
              </a:rPr>
              <a:t>•  On-device deployment (mobile)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379475"/>
            <a:ext cx="8412480" cy="502920"/>
          </a:xfrm>
          <a:prstGeom prst="rect">
            <a:avLst/>
          </a:prstGeom>
          <a:noFill/>
        </p:spPr>
        <p:txBody>
          <a:bodyPr wrap="square" lIns="45720" tIns="18288" rIns="45720" bIns="18288" anchor="t">
            <a:spAutoFit/>
          </a:bodyPr>
          <a:lstStyle/>
          <a:p>
            <a:pPr algn="ctr"/>
            <a:r>
              <a:rPr sz="2400" b="1" dirty="0">
                <a:solidFill>
                  <a:srgbClr val="0F3F7A"/>
                </a:solidFill>
                <a:latin typeface="Calibri"/>
              </a:rPr>
              <a:t>References</a:t>
            </a:r>
          </a:p>
        </p:txBody>
      </p:sp>
      <p:sp>
        <p:nvSpPr>
          <p:cNvPr id="4" name="TextBox 3"/>
          <p:cNvSpPr txBox="1"/>
          <p:nvPr/>
        </p:nvSpPr>
        <p:spPr>
          <a:xfrm>
            <a:off x="365760" y="1097280"/>
            <a:ext cx="411480" cy="457200"/>
          </a:xfrm>
          <a:prstGeom prst="rect">
            <a:avLst/>
          </a:prstGeom>
          <a:noFill/>
        </p:spPr>
        <p:txBody>
          <a:bodyPr wrap="square" lIns="45720" tIns="18288" rIns="45720" bIns="18288" anchor="t">
            <a:spAutoFit/>
          </a:bodyPr>
          <a:lstStyle/>
          <a:p>
            <a:pPr algn="l"/>
            <a:r>
              <a:rPr sz="1200" b="1">
                <a:solidFill>
                  <a:srgbClr val="0F3F7A"/>
                </a:solidFill>
                <a:latin typeface="Calibri"/>
              </a:rPr>
              <a:t>[1]</a:t>
            </a:r>
          </a:p>
        </p:txBody>
      </p:sp>
      <p:sp>
        <p:nvSpPr>
          <p:cNvPr id="5" name="TextBox 4"/>
          <p:cNvSpPr txBox="1"/>
          <p:nvPr/>
        </p:nvSpPr>
        <p:spPr>
          <a:xfrm>
            <a:off x="777240" y="1097280"/>
            <a:ext cx="3749039" cy="566928"/>
          </a:xfrm>
          <a:prstGeom prst="rect">
            <a:avLst/>
          </a:prstGeom>
          <a:noFill/>
        </p:spPr>
        <p:txBody>
          <a:bodyPr wrap="square" lIns="45720" tIns="18288" rIns="45720" bIns="18288" anchor="t">
            <a:spAutoFit/>
          </a:bodyPr>
          <a:lstStyle/>
          <a:p>
            <a:pPr algn="l"/>
            <a:r>
              <a:rPr sz="1200" b="0">
                <a:solidFill>
                  <a:srgbClr val="333333"/>
                </a:solidFill>
                <a:latin typeface="Calibri"/>
              </a:rPr>
              <a:t>Bounareli et al.  DiffusionAct: Controllable Diffusion Autoencoder for One-shot Face Reenactment.  IEEE FG, 2025.</a:t>
            </a:r>
          </a:p>
        </p:txBody>
      </p:sp>
      <p:sp>
        <p:nvSpPr>
          <p:cNvPr id="6" name="TextBox 5"/>
          <p:cNvSpPr txBox="1"/>
          <p:nvPr/>
        </p:nvSpPr>
        <p:spPr>
          <a:xfrm>
            <a:off x="365760" y="1664207"/>
            <a:ext cx="411480" cy="457200"/>
          </a:xfrm>
          <a:prstGeom prst="rect">
            <a:avLst/>
          </a:prstGeom>
          <a:noFill/>
        </p:spPr>
        <p:txBody>
          <a:bodyPr wrap="square" lIns="45720" tIns="18288" rIns="45720" bIns="18288" anchor="t">
            <a:spAutoFit/>
          </a:bodyPr>
          <a:lstStyle/>
          <a:p>
            <a:pPr algn="l"/>
            <a:r>
              <a:rPr sz="1200" b="1">
                <a:solidFill>
                  <a:srgbClr val="0F3F7A"/>
                </a:solidFill>
                <a:latin typeface="Calibri"/>
              </a:rPr>
              <a:t>[2]</a:t>
            </a:r>
          </a:p>
        </p:txBody>
      </p:sp>
      <p:sp>
        <p:nvSpPr>
          <p:cNvPr id="7" name="TextBox 6"/>
          <p:cNvSpPr txBox="1"/>
          <p:nvPr/>
        </p:nvSpPr>
        <p:spPr>
          <a:xfrm>
            <a:off x="777240" y="1664207"/>
            <a:ext cx="3749039" cy="566928"/>
          </a:xfrm>
          <a:prstGeom prst="rect">
            <a:avLst/>
          </a:prstGeom>
          <a:noFill/>
        </p:spPr>
        <p:txBody>
          <a:bodyPr wrap="square" lIns="45720" tIns="18288" rIns="45720" bIns="18288" anchor="t">
            <a:spAutoFit/>
          </a:bodyPr>
          <a:lstStyle/>
          <a:p>
            <a:pPr algn="l"/>
            <a:r>
              <a:rPr sz="1200" b="0">
                <a:solidFill>
                  <a:srgbClr val="333333"/>
                </a:solidFill>
                <a:latin typeface="Calibri"/>
              </a:rPr>
              <a:t>Guo et al.  LivePortrait: Efficient Portrait Animation with Stitching and Retargeting Control.  arXiv 2407.03168, 2025.</a:t>
            </a:r>
          </a:p>
        </p:txBody>
      </p:sp>
      <p:sp>
        <p:nvSpPr>
          <p:cNvPr id="8" name="TextBox 7"/>
          <p:cNvSpPr txBox="1"/>
          <p:nvPr/>
        </p:nvSpPr>
        <p:spPr>
          <a:xfrm>
            <a:off x="365760" y="2231136"/>
            <a:ext cx="411480" cy="457200"/>
          </a:xfrm>
          <a:prstGeom prst="rect">
            <a:avLst/>
          </a:prstGeom>
          <a:noFill/>
        </p:spPr>
        <p:txBody>
          <a:bodyPr wrap="square" lIns="45720" tIns="18288" rIns="45720" bIns="18288" anchor="t">
            <a:spAutoFit/>
          </a:bodyPr>
          <a:lstStyle/>
          <a:p>
            <a:pPr algn="l"/>
            <a:r>
              <a:rPr sz="1200" b="1">
                <a:solidFill>
                  <a:srgbClr val="0F3F7A"/>
                </a:solidFill>
                <a:latin typeface="Calibri"/>
              </a:rPr>
              <a:t>[3]</a:t>
            </a:r>
          </a:p>
        </p:txBody>
      </p:sp>
      <p:sp>
        <p:nvSpPr>
          <p:cNvPr id="9" name="TextBox 8"/>
          <p:cNvSpPr txBox="1"/>
          <p:nvPr/>
        </p:nvSpPr>
        <p:spPr>
          <a:xfrm>
            <a:off x="777240" y="2231136"/>
            <a:ext cx="3749039" cy="406265"/>
          </a:xfrm>
          <a:prstGeom prst="rect">
            <a:avLst/>
          </a:prstGeom>
          <a:noFill/>
        </p:spPr>
        <p:txBody>
          <a:bodyPr wrap="square" lIns="45720" tIns="18288" rIns="45720" bIns="18288" anchor="t">
            <a:spAutoFit/>
          </a:bodyPr>
          <a:lstStyle/>
          <a:p>
            <a:r>
              <a:rPr lang="en-US" sz="1200" dirty="0">
                <a:solidFill>
                  <a:srgbClr val="333333"/>
                </a:solidFill>
                <a:latin typeface="Calibri"/>
              </a:rPr>
              <a:t>Radford et al.  Robust Speech Recognition via Large-Scale Weak Supervision (Whisper).  ICML, 2023.</a:t>
            </a:r>
          </a:p>
        </p:txBody>
      </p:sp>
      <p:sp>
        <p:nvSpPr>
          <p:cNvPr id="10" name="TextBox 9"/>
          <p:cNvSpPr txBox="1"/>
          <p:nvPr/>
        </p:nvSpPr>
        <p:spPr>
          <a:xfrm>
            <a:off x="365760" y="2798063"/>
            <a:ext cx="411480" cy="457200"/>
          </a:xfrm>
          <a:prstGeom prst="rect">
            <a:avLst/>
          </a:prstGeom>
          <a:noFill/>
        </p:spPr>
        <p:txBody>
          <a:bodyPr wrap="square" lIns="45720" tIns="18288" rIns="45720" bIns="18288" anchor="t">
            <a:spAutoFit/>
          </a:bodyPr>
          <a:lstStyle/>
          <a:p>
            <a:pPr algn="l"/>
            <a:r>
              <a:rPr sz="1200" b="1">
                <a:solidFill>
                  <a:srgbClr val="0F3F7A"/>
                </a:solidFill>
                <a:latin typeface="Calibri"/>
              </a:rPr>
              <a:t>[4]</a:t>
            </a:r>
          </a:p>
        </p:txBody>
      </p:sp>
      <p:sp>
        <p:nvSpPr>
          <p:cNvPr id="11" name="TextBox 10"/>
          <p:cNvSpPr txBox="1"/>
          <p:nvPr/>
        </p:nvSpPr>
        <p:spPr>
          <a:xfrm>
            <a:off x="777240" y="2798063"/>
            <a:ext cx="3749039" cy="406265"/>
          </a:xfrm>
          <a:prstGeom prst="rect">
            <a:avLst/>
          </a:prstGeom>
          <a:noFill/>
        </p:spPr>
        <p:txBody>
          <a:bodyPr wrap="square" lIns="45720" tIns="18288" rIns="45720" bIns="18288" anchor="t">
            <a:spAutoFit/>
          </a:bodyPr>
          <a:lstStyle/>
          <a:p>
            <a:r>
              <a:rPr lang="en-US" sz="1200" dirty="0">
                <a:solidFill>
                  <a:srgbClr val="333333"/>
                </a:solidFill>
                <a:latin typeface="Calibri"/>
              </a:rPr>
              <a:t>Hsu et al.  </a:t>
            </a:r>
            <a:r>
              <a:rPr lang="en-US" sz="1200" dirty="0" err="1">
                <a:solidFill>
                  <a:srgbClr val="333333"/>
                </a:solidFill>
                <a:latin typeface="Calibri"/>
              </a:rPr>
              <a:t>HuBERT</a:t>
            </a:r>
            <a:r>
              <a:rPr lang="en-US" sz="1200" dirty="0">
                <a:solidFill>
                  <a:srgbClr val="333333"/>
                </a:solidFill>
                <a:latin typeface="Calibri"/>
              </a:rPr>
              <a:t>: Self-Supervised Speech Representation Learning.  IEEE/ACM TASLP, 2021.</a:t>
            </a:r>
          </a:p>
        </p:txBody>
      </p:sp>
      <p:sp>
        <p:nvSpPr>
          <p:cNvPr id="12" name="TextBox 11"/>
          <p:cNvSpPr txBox="1"/>
          <p:nvPr/>
        </p:nvSpPr>
        <p:spPr>
          <a:xfrm>
            <a:off x="365760" y="3364991"/>
            <a:ext cx="411480" cy="457200"/>
          </a:xfrm>
          <a:prstGeom prst="rect">
            <a:avLst/>
          </a:prstGeom>
          <a:noFill/>
        </p:spPr>
        <p:txBody>
          <a:bodyPr wrap="square" lIns="45720" tIns="18288" rIns="45720" bIns="18288" anchor="t">
            <a:spAutoFit/>
          </a:bodyPr>
          <a:lstStyle/>
          <a:p>
            <a:pPr algn="l"/>
            <a:r>
              <a:rPr sz="1200" b="1">
                <a:solidFill>
                  <a:srgbClr val="0F3F7A"/>
                </a:solidFill>
                <a:latin typeface="Calibri"/>
              </a:rPr>
              <a:t>[5]</a:t>
            </a:r>
          </a:p>
        </p:txBody>
      </p:sp>
      <p:sp>
        <p:nvSpPr>
          <p:cNvPr id="13" name="TextBox 12"/>
          <p:cNvSpPr txBox="1"/>
          <p:nvPr/>
        </p:nvSpPr>
        <p:spPr>
          <a:xfrm>
            <a:off x="777240" y="3364991"/>
            <a:ext cx="3749039" cy="590931"/>
          </a:xfrm>
          <a:prstGeom prst="rect">
            <a:avLst/>
          </a:prstGeom>
          <a:noFill/>
        </p:spPr>
        <p:txBody>
          <a:bodyPr wrap="square" lIns="45720" tIns="18288" rIns="45720" bIns="18288" anchor="t">
            <a:spAutoFit/>
          </a:bodyPr>
          <a:lstStyle/>
          <a:p>
            <a:r>
              <a:rPr lang="en-US" sz="1200" dirty="0">
                <a:solidFill>
                  <a:srgbClr val="333333"/>
                </a:solidFill>
                <a:latin typeface="Calibri"/>
              </a:rPr>
              <a:t>Qian et al.  </a:t>
            </a:r>
            <a:r>
              <a:rPr lang="en-US" sz="1200" dirty="0" err="1">
                <a:solidFill>
                  <a:srgbClr val="333333"/>
                </a:solidFill>
                <a:latin typeface="Calibri"/>
              </a:rPr>
              <a:t>ContentVec</a:t>
            </a:r>
            <a:r>
              <a:rPr lang="en-US" sz="1200" dirty="0">
                <a:solidFill>
                  <a:srgbClr val="333333"/>
                </a:solidFill>
                <a:latin typeface="Calibri"/>
              </a:rPr>
              <a:t>: An Improved Self-Supervised Speech Representation by Disentangling Speakers.  ICML, 2022.</a:t>
            </a:r>
          </a:p>
        </p:txBody>
      </p:sp>
      <p:sp>
        <p:nvSpPr>
          <p:cNvPr id="14" name="TextBox 13"/>
          <p:cNvSpPr txBox="1"/>
          <p:nvPr/>
        </p:nvSpPr>
        <p:spPr>
          <a:xfrm>
            <a:off x="365760" y="3931920"/>
            <a:ext cx="411480" cy="457200"/>
          </a:xfrm>
          <a:prstGeom prst="rect">
            <a:avLst/>
          </a:prstGeom>
          <a:noFill/>
        </p:spPr>
        <p:txBody>
          <a:bodyPr wrap="square" lIns="45720" tIns="18288" rIns="45720" bIns="18288" anchor="t">
            <a:spAutoFit/>
          </a:bodyPr>
          <a:lstStyle/>
          <a:p>
            <a:pPr algn="l"/>
            <a:r>
              <a:rPr sz="1200" b="1">
                <a:solidFill>
                  <a:srgbClr val="0F3F7A"/>
                </a:solidFill>
                <a:latin typeface="Calibri"/>
              </a:rPr>
              <a:t>[6]</a:t>
            </a:r>
          </a:p>
        </p:txBody>
      </p:sp>
      <p:sp>
        <p:nvSpPr>
          <p:cNvPr id="15" name="TextBox 14"/>
          <p:cNvSpPr txBox="1"/>
          <p:nvPr/>
        </p:nvSpPr>
        <p:spPr>
          <a:xfrm>
            <a:off x="777240" y="3931920"/>
            <a:ext cx="3749039" cy="406265"/>
          </a:xfrm>
          <a:prstGeom prst="rect">
            <a:avLst/>
          </a:prstGeom>
          <a:noFill/>
        </p:spPr>
        <p:txBody>
          <a:bodyPr wrap="square" lIns="45720" tIns="18288" rIns="45720" bIns="18288" anchor="t">
            <a:spAutoFit/>
          </a:bodyPr>
          <a:lstStyle/>
          <a:p>
            <a:r>
              <a:rPr lang="en-US" sz="1200" dirty="0">
                <a:solidFill>
                  <a:srgbClr val="333333"/>
                </a:solidFill>
                <a:latin typeface="Calibri"/>
              </a:rPr>
              <a:t>Plachta et al.  Seed-VC: Zero-Shot Voice Conversion with Diffusion-Based Style Transfer.  2024.</a:t>
            </a:r>
          </a:p>
        </p:txBody>
      </p:sp>
      <p:sp>
        <p:nvSpPr>
          <p:cNvPr id="16" name="TextBox 15"/>
          <p:cNvSpPr txBox="1"/>
          <p:nvPr/>
        </p:nvSpPr>
        <p:spPr>
          <a:xfrm>
            <a:off x="4663440" y="1097280"/>
            <a:ext cx="457200" cy="457200"/>
          </a:xfrm>
          <a:prstGeom prst="rect">
            <a:avLst/>
          </a:prstGeom>
          <a:noFill/>
        </p:spPr>
        <p:txBody>
          <a:bodyPr wrap="square" lIns="45720" tIns="18288" rIns="45720" bIns="18288" anchor="t">
            <a:spAutoFit/>
          </a:bodyPr>
          <a:lstStyle/>
          <a:p>
            <a:pPr algn="l"/>
            <a:r>
              <a:rPr sz="1200" b="1">
                <a:solidFill>
                  <a:srgbClr val="0F3F7A"/>
                </a:solidFill>
                <a:latin typeface="Calibri"/>
              </a:rPr>
              <a:t>[7]</a:t>
            </a:r>
          </a:p>
        </p:txBody>
      </p:sp>
      <p:sp>
        <p:nvSpPr>
          <p:cNvPr id="17" name="TextBox 16"/>
          <p:cNvSpPr txBox="1"/>
          <p:nvPr/>
        </p:nvSpPr>
        <p:spPr>
          <a:xfrm>
            <a:off x="5120640" y="1097280"/>
            <a:ext cx="3749039" cy="406265"/>
          </a:xfrm>
          <a:prstGeom prst="rect">
            <a:avLst/>
          </a:prstGeom>
          <a:noFill/>
        </p:spPr>
        <p:txBody>
          <a:bodyPr wrap="square" lIns="45720" tIns="18288" rIns="45720" bIns="18288" anchor="t">
            <a:spAutoFit/>
          </a:bodyPr>
          <a:lstStyle/>
          <a:p>
            <a:r>
              <a:rPr lang="en-IN" sz="1200" dirty="0" err="1">
                <a:solidFill>
                  <a:srgbClr val="333333"/>
                </a:solidFill>
                <a:latin typeface="Calibri"/>
              </a:rPr>
              <a:t>Silero</a:t>
            </a:r>
            <a:r>
              <a:rPr lang="en-IN" sz="1200" dirty="0">
                <a:solidFill>
                  <a:srgbClr val="333333"/>
                </a:solidFill>
                <a:latin typeface="Calibri"/>
              </a:rPr>
              <a:t> Team.  </a:t>
            </a:r>
            <a:r>
              <a:rPr lang="en-IN" sz="1200" dirty="0" err="1">
                <a:solidFill>
                  <a:srgbClr val="333333"/>
                </a:solidFill>
                <a:latin typeface="Calibri"/>
              </a:rPr>
              <a:t>Silero</a:t>
            </a:r>
            <a:r>
              <a:rPr lang="en-IN" sz="1200" dirty="0">
                <a:solidFill>
                  <a:srgbClr val="333333"/>
                </a:solidFill>
                <a:latin typeface="Calibri"/>
              </a:rPr>
              <a:t> VAD.  GitHub: snakers4/</a:t>
            </a:r>
            <a:r>
              <a:rPr lang="en-IN" sz="1200" dirty="0" err="1">
                <a:solidFill>
                  <a:srgbClr val="333333"/>
                </a:solidFill>
                <a:latin typeface="Calibri"/>
              </a:rPr>
              <a:t>silero-vad</a:t>
            </a:r>
            <a:r>
              <a:rPr lang="en-IN" sz="1200" dirty="0">
                <a:solidFill>
                  <a:srgbClr val="333333"/>
                </a:solidFill>
                <a:latin typeface="Calibri"/>
              </a:rPr>
              <a:t>, 2021–24.</a:t>
            </a:r>
          </a:p>
        </p:txBody>
      </p:sp>
      <p:sp>
        <p:nvSpPr>
          <p:cNvPr id="28" name="Rounded Rectangle 27"/>
          <p:cNvSpPr/>
          <p:nvPr/>
        </p:nvSpPr>
        <p:spPr>
          <a:xfrm>
            <a:off x="365760" y="4535426"/>
            <a:ext cx="8412480" cy="1783080"/>
          </a:xfrm>
          <a:prstGeom prst="roundRect">
            <a:avLst/>
          </a:prstGeom>
          <a:solidFill>
            <a:srgbClr val="0F3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65760" y="4626866"/>
            <a:ext cx="8412480" cy="594360"/>
          </a:xfrm>
          <a:prstGeom prst="rect">
            <a:avLst/>
          </a:prstGeom>
          <a:noFill/>
        </p:spPr>
        <p:txBody>
          <a:bodyPr wrap="square" lIns="45720" tIns="18288" rIns="45720" bIns="18288" anchor="t">
            <a:spAutoFit/>
          </a:bodyPr>
          <a:lstStyle/>
          <a:p>
            <a:pPr algn="ctr"/>
            <a:r>
              <a:rPr sz="2800" b="1">
                <a:solidFill>
                  <a:srgbClr val="FFFFFF"/>
                </a:solidFill>
                <a:latin typeface="Calibri"/>
              </a:rPr>
              <a:t>Thank you</a:t>
            </a:r>
          </a:p>
        </p:txBody>
      </p:sp>
      <p:sp>
        <p:nvSpPr>
          <p:cNvPr id="30" name="TextBox 29"/>
          <p:cNvSpPr txBox="1"/>
          <p:nvPr/>
        </p:nvSpPr>
        <p:spPr>
          <a:xfrm>
            <a:off x="365760" y="5266946"/>
            <a:ext cx="8412480" cy="365760"/>
          </a:xfrm>
          <a:prstGeom prst="rect">
            <a:avLst/>
          </a:prstGeom>
          <a:noFill/>
        </p:spPr>
        <p:txBody>
          <a:bodyPr wrap="square" lIns="45720" tIns="18288" rIns="45720" bIns="18288" anchor="t">
            <a:spAutoFit/>
          </a:bodyPr>
          <a:lstStyle/>
          <a:p>
            <a:pPr algn="ctr"/>
            <a:r>
              <a:rPr sz="1600" b="0">
                <a:solidFill>
                  <a:srgbClr val="FFFFFF"/>
                </a:solidFill>
                <a:latin typeface="Calibri"/>
              </a:rPr>
              <a:t>Questions?</a:t>
            </a:r>
          </a:p>
        </p:txBody>
      </p:sp>
      <p:sp>
        <p:nvSpPr>
          <p:cNvPr id="31" name="TextBox 30"/>
          <p:cNvSpPr txBox="1"/>
          <p:nvPr/>
        </p:nvSpPr>
        <p:spPr>
          <a:xfrm>
            <a:off x="365760" y="5678426"/>
            <a:ext cx="8412480" cy="320040"/>
          </a:xfrm>
          <a:prstGeom prst="rect">
            <a:avLst/>
          </a:prstGeom>
          <a:noFill/>
        </p:spPr>
        <p:txBody>
          <a:bodyPr wrap="square" lIns="45720" tIns="18288" rIns="45720" bIns="18288" anchor="t">
            <a:spAutoFit/>
          </a:bodyPr>
          <a:lstStyle/>
          <a:p>
            <a:pPr algn="ctr"/>
            <a:r>
              <a:rPr sz="1300" b="0">
                <a:solidFill>
                  <a:srgbClr val="FFFFFF"/>
                </a:solidFill>
                <a:latin typeface="Calibri"/>
              </a:rPr>
              <a:t>Atharva Sonare  ·  atharva_ns@ece.iitr.ac.in</a:t>
            </a:r>
          </a:p>
        </p:txBody>
      </p:sp>
      <p:sp>
        <p:nvSpPr>
          <p:cNvPr id="32" name="TextBox 31"/>
          <p:cNvSpPr txBox="1"/>
          <p:nvPr/>
        </p:nvSpPr>
        <p:spPr>
          <a:xfrm>
            <a:off x="365760" y="5998466"/>
            <a:ext cx="8412480" cy="320040"/>
          </a:xfrm>
          <a:prstGeom prst="rect">
            <a:avLst/>
          </a:prstGeom>
          <a:noFill/>
        </p:spPr>
        <p:txBody>
          <a:bodyPr wrap="square" lIns="45720" tIns="18288" rIns="45720" bIns="18288" anchor="t">
            <a:spAutoFit/>
          </a:bodyPr>
          <a:lstStyle/>
          <a:p>
            <a:pPr algn="ctr"/>
            <a:r>
              <a:rPr sz="1300" b="0">
                <a:solidFill>
                  <a:srgbClr val="FFFFFF"/>
                </a:solidFill>
                <a:latin typeface="Calibri"/>
              </a:rPr>
              <a:t>Barath Chandran  ·  barath_cc@ece.iitr.ac.in</a:t>
            </a:r>
          </a:p>
        </p:txBody>
      </p:sp>
    </p:spTree>
  </p:cSld>
  <p:clrMapOvr>
    <a:masterClrMapping/>
  </p:clrMapOvr>
</p:sld>
</file>

<file path=ppt/theme/theme1.xml><?xml version="1.0" encoding="utf-8"?>
<a:theme xmlns:a="http://schemas.openxmlformats.org/drawingml/2006/main" name="IITR_PPT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ITR_template_sudiproy.pptx" id="{E7BE3218-A97E-4E6F-BE9F-92D6192B2CD5}" vid="{3EDE8FBA-E8F1-4B0B-AEA8-7DC234A91AE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IITR_template_sudiproy</Template>
  <TotalTime>5626</TotalTime>
  <Words>3845</Words>
  <Application>Microsoft Office PowerPoint</Application>
  <PresentationFormat>On-screen Show (4:3)</PresentationFormat>
  <Paragraphs>273</Paragraphs>
  <Slides>16</Slides>
  <Notes>16</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Consolas</vt:lpstr>
      <vt:lpstr>Franklin Gothic Demi</vt:lpstr>
      <vt:lpstr>IITR_PPT_Template</vt:lpstr>
      <vt:lpstr>PowerPoint Presentation</vt:lpstr>
      <vt:lpstr>Motivation — Why Speech Therapy Needs Better Tools</vt:lpstr>
      <vt:lpstr>Problem Statement</vt:lpstr>
      <vt:lpstr>PowerPoint Presentation</vt:lpstr>
      <vt:lpstr>Phase 1 — Improving DiffusionAct</vt:lpstr>
      <vt:lpstr>Five Experiments That Did Not Work</vt:lpstr>
      <vt:lpstr>Diffusion (then) vs LivePortrait (now)</vt:lpstr>
      <vt:lpstr>PowerPoint Presentation</vt:lpstr>
      <vt:lpstr>PowerPoint Presentation</vt:lpstr>
      <vt:lpstr>PowerPoint Presentation</vt:lpstr>
      <vt:lpstr>Evaluation — Articulation Score</vt:lpstr>
      <vt:lpstr>Evaluation — Two Dialogue Accuracy Methods</vt:lpstr>
      <vt:lpstr>Guardrails — Refuse to Score Unreliable Inputs</vt:lpstr>
      <vt:lpstr>PowerPoint Presentation</vt:lpstr>
      <vt:lpstr>Contributions, Limitations, and Future Work</vt:lpstr>
      <vt:lpstr>PowerPoint Presentation</vt:lpstr>
    </vt:vector>
  </TitlesOfParts>
  <Manager>Dr. Sudip Roy</Manager>
  <Company>IIT Roorkee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IITR PPT Template</dc:subject>
  <dc:creator>Dr. Sudip Roy</dc:creator>
  <cp:lastModifiedBy>Atharva Sonare</cp:lastModifiedBy>
  <cp:revision>67</cp:revision>
  <dcterms:created xsi:type="dcterms:W3CDTF">2015-07-18T13:17:54Z</dcterms:created>
  <dcterms:modified xsi:type="dcterms:W3CDTF">2026-05-23T07:56:42Z</dcterms:modified>
  <cp:version>v1</cp:version>
</cp:coreProperties>
</file>